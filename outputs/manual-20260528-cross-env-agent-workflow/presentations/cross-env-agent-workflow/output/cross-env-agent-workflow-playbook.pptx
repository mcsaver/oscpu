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cd7cda29ab4756" /><Relationship Type="http://schemas.openxmlformats.org/officeDocument/2006/relationships/extended-properties" Target="/docProps/app.xml" Id="R0b2251f59dff4cba" /><Relationship Type="http://schemas.openxmlformats.org/officeDocument/2006/relationships/officeDocument" Target="/ppt/presentation.xml" Id="Rf0fd81a96a6341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24e179c07c4684"/>
  </p:sldMasterIdLst>
  <p:notesMasterIdLst>
    <p:notesMasterId xmlns:r="http://schemas.openxmlformats.org/officeDocument/2006/relationships" r:id="Rf845d6fc187f4100"/>
  </p:notesMasterIdLst>
  <p:sldIdLst>
    <p:sldId xmlns:r="http://schemas.openxmlformats.org/officeDocument/2006/relationships" id="256" r:id="R23e32ad512dc4e19"/>
    <p:sldId xmlns:r="http://schemas.openxmlformats.org/officeDocument/2006/relationships" id="257" r:id="R4f15433b761042c0"/>
    <p:sldId xmlns:r="http://schemas.openxmlformats.org/officeDocument/2006/relationships" id="258" r:id="Rd70ebf07ddb64f44"/>
    <p:sldId xmlns:r="http://schemas.openxmlformats.org/officeDocument/2006/relationships" id="259" r:id="R120a87bf3dd54802"/>
    <p:sldId xmlns:r="http://schemas.openxmlformats.org/officeDocument/2006/relationships" id="260" r:id="R5f5cd7e2e31a40f7"/>
    <p:sldId xmlns:r="http://schemas.openxmlformats.org/officeDocument/2006/relationships" id="261" r:id="R163b1c2abf874a14"/>
    <p:sldId xmlns:r="http://schemas.openxmlformats.org/officeDocument/2006/relationships" id="262" r:id="R827ff016898140a4"/>
    <p:sldId xmlns:r="http://schemas.openxmlformats.org/officeDocument/2006/relationships" id="263" r:id="R32e024892ee64a52"/>
    <p:sldId xmlns:r="http://schemas.openxmlformats.org/officeDocument/2006/relationships" id="264" r:id="R04934a0efe3c4af0"/>
    <p:sldId xmlns:r="http://schemas.openxmlformats.org/officeDocument/2006/relationships" id="265" r:id="R4d7575272f6146dc"/>
    <p:sldId xmlns:r="http://schemas.openxmlformats.org/officeDocument/2006/relationships" id="266" r:id="R602007b166bd4c68"/>
    <p:sldId xmlns:r="http://schemas.openxmlformats.org/officeDocument/2006/relationships" id="267" r:id="R3302111884f24ec9"/>
    <p:sldId xmlns:r="http://schemas.openxmlformats.org/officeDocument/2006/relationships" id="268" r:id="Rbd7c6ee025314b0c"/>
    <p:sldId xmlns:r="http://schemas.openxmlformats.org/officeDocument/2006/relationships" id="269" r:id="R4885afccf2c946ab"/>
    <p:sldId xmlns:r="http://schemas.openxmlformats.org/officeDocument/2006/relationships" id="270" r:id="Rc7bc0aa7ce19473b"/>
    <p:sldId xmlns:r="http://schemas.openxmlformats.org/officeDocument/2006/relationships" id="271" r:id="R174458e2c3a949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4e179c07c4684" /><Relationship Type="http://schemas.openxmlformats.org/officeDocument/2006/relationships/theme" Target="/ppt/theme/theme1.xml" Id="R1f88867447d6488e" /><Relationship Type="http://schemas.openxmlformats.org/officeDocument/2006/relationships/notesMaster" Target="/ppt/notesMasters/notesMaster1.xml" Id="Rf845d6fc187f4100" /><Relationship Type="http://schemas.openxmlformats.org/officeDocument/2006/relationships/presProps" Target="/ppt/presProps.xml" Id="Rf9142fd9eb514fef" /><Relationship Type="http://schemas.openxmlformats.org/officeDocument/2006/relationships/viewProps" Target="/ppt/viewProps.xml" Id="R85f1357f2bdf4685" /><Relationship Type="http://schemas.openxmlformats.org/officeDocument/2006/relationships/tableStyles" Target="/ppt/tableStyles.xml" Id="R6057bf792a6942ee" /><Relationship Type="http://schemas.openxmlformats.org/officeDocument/2006/relationships/slide" Target="/ppt/slides/slide1.xml" Id="R23e32ad512dc4e19" /><Relationship Type="http://schemas.openxmlformats.org/officeDocument/2006/relationships/slide" Target="/ppt/slides/slide2.xml" Id="R4f15433b761042c0" /><Relationship Type="http://schemas.openxmlformats.org/officeDocument/2006/relationships/slide" Target="/ppt/slides/slide3.xml" Id="Rd70ebf07ddb64f44" /><Relationship Type="http://schemas.openxmlformats.org/officeDocument/2006/relationships/slide" Target="/ppt/slides/slide4.xml" Id="R120a87bf3dd54802" /><Relationship Type="http://schemas.openxmlformats.org/officeDocument/2006/relationships/slide" Target="/ppt/slides/slide5.xml" Id="R5f5cd7e2e31a40f7" /><Relationship Type="http://schemas.openxmlformats.org/officeDocument/2006/relationships/slide" Target="/ppt/slides/slide6.xml" Id="R163b1c2abf874a14" /><Relationship Type="http://schemas.openxmlformats.org/officeDocument/2006/relationships/slide" Target="/ppt/slides/slide7.xml" Id="R827ff016898140a4" /><Relationship Type="http://schemas.openxmlformats.org/officeDocument/2006/relationships/slide" Target="/ppt/slides/slide8.xml" Id="R32e024892ee64a52" /><Relationship Type="http://schemas.openxmlformats.org/officeDocument/2006/relationships/slide" Target="/ppt/slides/slide9.xml" Id="R04934a0efe3c4af0" /><Relationship Type="http://schemas.openxmlformats.org/officeDocument/2006/relationships/slide" Target="/ppt/slides/slide10.xml" Id="R4d7575272f6146dc" /><Relationship Type="http://schemas.openxmlformats.org/officeDocument/2006/relationships/slide" Target="/ppt/slides/slide11.xml" Id="R602007b166bd4c68" /><Relationship Type="http://schemas.openxmlformats.org/officeDocument/2006/relationships/slide" Target="/ppt/slides/slide12.xml" Id="R3302111884f24ec9" /><Relationship Type="http://schemas.openxmlformats.org/officeDocument/2006/relationships/slide" Target="/ppt/slides/slide13.xml" Id="Rbd7c6ee025314b0c" /><Relationship Type="http://schemas.openxmlformats.org/officeDocument/2006/relationships/slide" Target="/ppt/slides/slide14.xml" Id="R4885afccf2c946ab" /><Relationship Type="http://schemas.openxmlformats.org/officeDocument/2006/relationships/slide" Target="/ppt/slides/slide15.xml" Id="Rc7bc0aa7ce19473b" /><Relationship Type="http://schemas.openxmlformats.org/officeDocument/2006/relationships/slide" Target="/ppt/slides/slide16.xml" Id="R174458e2c3a949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023ffcb89eb47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5bb4c730f345c9" /><Relationship Type="http://schemas.openxmlformats.org/officeDocument/2006/relationships/notesMaster" Target="/ppt/notesMasters/notesMaster1.xml" Id="R7db6552161d149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66095046c04acc" /><Relationship Type="http://schemas.openxmlformats.org/officeDocument/2006/relationships/notesMaster" Target="/ppt/notesMasters/notesMaster1.xml" Id="R613b9f39af9c4f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74bd94e43e4c13" /><Relationship Type="http://schemas.openxmlformats.org/officeDocument/2006/relationships/notesMaster" Target="/ppt/notesMasters/notesMaster1.xml" Id="R4920dfc3cb1b4d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52b32889ab4ccc" /><Relationship Type="http://schemas.openxmlformats.org/officeDocument/2006/relationships/notesMaster" Target="/ppt/notesMasters/notesMaster1.xml" Id="R5416a7cee09b48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e30def50084ce4" /><Relationship Type="http://schemas.openxmlformats.org/officeDocument/2006/relationships/notesMaster" Target="/ppt/notesMasters/notesMaster1.xml" Id="R5c6689e040b04f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c54f5f3e044be4" /><Relationship Type="http://schemas.openxmlformats.org/officeDocument/2006/relationships/notesMaster" Target="/ppt/notesMasters/notesMaster1.xml" Id="R7312906d754642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d11bd51cf64e47" /><Relationship Type="http://schemas.openxmlformats.org/officeDocument/2006/relationships/notesMaster" Target="/ppt/notesMasters/notesMaster1.xml" Id="R93eb5a5d07c14b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e5c6c6a6ae4a24" /><Relationship Type="http://schemas.openxmlformats.org/officeDocument/2006/relationships/notesMaster" Target="/ppt/notesMasters/notesMaster1.xml" Id="R22fdc0723d634e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df6c6c8a7048cb" /><Relationship Type="http://schemas.openxmlformats.org/officeDocument/2006/relationships/notesMaster" Target="/ppt/notesMasters/notesMaster1.xml" Id="R890303cc663a4c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7841200e684dea" /><Relationship Type="http://schemas.openxmlformats.org/officeDocument/2006/relationships/notesMaster" Target="/ppt/notesMasters/notesMaster1.xml" Id="R562710d0fe4441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0d0efa578046ba" /><Relationship Type="http://schemas.openxmlformats.org/officeDocument/2006/relationships/notesMaster" Target="/ppt/notesMasters/notesMaster1.xml" Id="Rc8c182060f4145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cb3f9d4e5e4b18" /><Relationship Type="http://schemas.openxmlformats.org/officeDocument/2006/relationships/notesMaster" Target="/ppt/notesMasters/notesMaster1.xml" Id="R4c32434e0d2948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f02f0edc734f3a" /><Relationship Type="http://schemas.openxmlformats.org/officeDocument/2006/relationships/notesMaster" Target="/ppt/notesMasters/notesMaster1.xml" Id="R00d42feb4b504f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49163c836346f5" /><Relationship Type="http://schemas.openxmlformats.org/officeDocument/2006/relationships/notesMaster" Target="/ppt/notesMasters/notesMaster1.xml" Id="R8c1cb0b41b9a4e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d209eafaeb462d" /><Relationship Type="http://schemas.openxmlformats.org/officeDocument/2006/relationships/notesMaster" Target="/ppt/notesMasters/notesMaster1.xml" Id="Rfd83c1f3ca0b40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78282f8e6f46b3" /><Relationship Type="http://schemas.openxmlformats.org/officeDocument/2006/relationships/notesMaster" Target="/ppt/notesMasters/notesMaster1.xml" Id="R45af7ea6b65e41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11442e1c8491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438eb91ff004430" /><Relationship Type="http://schemas.openxmlformats.org/officeDocument/2006/relationships/slideLayout" Target="/ppt/slideLayouts/slideLayout2.xml" Id="R04d87841289842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d87841289842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de2e86e80f4fe1" /><Relationship Type="http://schemas.openxmlformats.org/officeDocument/2006/relationships/notesSlide" Target="/ppt/notesSlides/notesSlide1.xml" Id="R3d006c17fcd349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1d20ee21e24ef2" /><Relationship Type="http://schemas.openxmlformats.org/officeDocument/2006/relationships/notesSlide" Target="/ppt/notesSlides/notesSlide2.xml" Id="Rb98fd8edd71441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fb564e210d4ff5" /><Relationship Type="http://schemas.openxmlformats.org/officeDocument/2006/relationships/notesSlide" Target="/ppt/notesSlides/notesSlide3.xml" Id="R10c3906a78c240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b25db11b064ca2" /><Relationship Type="http://schemas.openxmlformats.org/officeDocument/2006/relationships/notesSlide" Target="/ppt/notesSlides/notesSlide4.xml" Id="R2263aeebfcd14c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ce219ffe8448d4" /><Relationship Type="http://schemas.openxmlformats.org/officeDocument/2006/relationships/notesSlide" Target="/ppt/notesSlides/notesSlide5.xml" Id="R6b78498e64964f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ee0f3541d44e5b" /><Relationship Type="http://schemas.openxmlformats.org/officeDocument/2006/relationships/notesSlide" Target="/ppt/notesSlides/notesSlide6.xml" Id="Re97b9703a95245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b82cb7c2784092" /><Relationship Type="http://schemas.openxmlformats.org/officeDocument/2006/relationships/notesSlide" Target="/ppt/notesSlides/notesSlide7.xml" Id="R3a5f097b2fad4b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c0179b23c84db5" /><Relationship Type="http://schemas.openxmlformats.org/officeDocument/2006/relationships/notesSlide" Target="/ppt/notesSlides/notesSlide8.xml" Id="R46acfa53cae247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1075714f0c4c73" /><Relationship Type="http://schemas.openxmlformats.org/officeDocument/2006/relationships/notesSlide" Target="/ppt/notesSlides/notesSlide9.xml" Id="R419dc5d0f0484b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2d7618361947dc" /><Relationship Type="http://schemas.openxmlformats.org/officeDocument/2006/relationships/notesSlide" Target="/ppt/notesSlides/notesSlide10.xml" Id="R45bae0b6351343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07431d53b5484d" /><Relationship Type="http://schemas.openxmlformats.org/officeDocument/2006/relationships/notesSlide" Target="/ppt/notesSlides/notesSlide11.xml" Id="R96cbbc0b4ead47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b52d444b2c4efc" /><Relationship Type="http://schemas.openxmlformats.org/officeDocument/2006/relationships/notesSlide" Target="/ppt/notesSlides/notesSlide12.xml" Id="Ra07fc63736a148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4e6e691e134615" /><Relationship Type="http://schemas.openxmlformats.org/officeDocument/2006/relationships/notesSlide" Target="/ppt/notesSlides/notesSlide13.xml" Id="R37f070026cbe4e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2272c0d2ec4061" /><Relationship Type="http://schemas.openxmlformats.org/officeDocument/2006/relationships/notesSlide" Target="/ppt/notesSlides/notesSlide14.xml" Id="R8d84fda6e7ed4a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700e4695a840ee" /><Relationship Type="http://schemas.openxmlformats.org/officeDocument/2006/relationships/notesSlide" Target="/ppt/notesSlides/notesSlide15.xml" Id="R7f2e99949c6547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1ac4520b5a48b1" /><Relationship Type="http://schemas.openxmlformats.org/officeDocument/2006/relationships/notesSlide" Target="/ppt/notesSlides/notesSlide16.xml" Id="R1dc376d82baf48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085776-2331-4C54-920E-ADD7EFB9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195E1-0737-4B56-9CFB-7CBBF1EE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08254-68E6-4CD3-B9F7-AEA1A1EE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93B3F"/>
          </a:solidFill>
          <a:ln xmlns:a="http://schemas.openxmlformats.org/drawingml/2006/main" w="0">
            <a:solidFill>
              <a:srgbClr val="193B3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6FFF5"/>
                </a:solidFill>
                <a:latin typeface="Microsoft YaHei"/>
                <a:ea typeface="Microsoft YaHei"/>
                <a:cs typeface="Microsoft YaHei"/>
              </a:defRPr>
            </a:pPr>
            <a:r>
              <a:t>可复刻工作流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5BFF5-AAFF-4215-8448-1D208952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</a:t>
            </a:r>
          </a:p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开发环境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B8C78-D744-4D31-93F8-BA448470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7D2DE"/>
                </a:solidFill>
                <a:latin typeface="Microsoft YaHei"/>
                <a:ea typeface="Microsoft YaHei"/>
                <a:cs typeface="Microsoft YaHei"/>
              </a:defRPr>
            </a:pPr>
            <a:r>
              <a:t>从 ysyx 的硬件闭环出发，抽象成任何工程都能复制的 agent 配置方法。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0DAC2-D480-4F28-97F7-08ED20BF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13144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BE36F-EE93-4586-BD8E-736CB92C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86000"/>
            <a:ext cx="13144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反馈标准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6F353-6164-43B7-A469-82CB76C0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13144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分工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06D11-5055-47DE-A6C9-9A96F5E5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86000"/>
            <a:ext cx="13144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D9480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记忆证据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E4333-CC4A-4AA7-8C31-EE358453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049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057EB-B285-4200-908E-9FD8B991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90825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9EBA2-2F9B-4C1D-8F8C-A8312676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1190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D7079-1581-45E5-99FE-AFDD21AB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52700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743DE-371E-4B5B-9A9F-4FCCA396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0"/>
          </a:solidFill>
          <a:ln xmlns:a="http://schemas.openxmlformats.org/drawingml/2006/main" w="9525">
            <a:solidFill>
              <a:srgbClr val="3141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AF2F8"/>
                </a:solidFill>
                <a:latin typeface="Microsoft YaHei"/>
                <a:ea typeface="Microsoft YaHei"/>
                <a:cs typeface="Microsoft YaHei"/>
              </a:defRPr>
            </a:pPr>
            <a:r>
              <a:t>一句话：不是复制某个目录，</a:t>
            </a:r>
          </a:p>
          <a:p xmlns:a="http://schemas.openxmlformats.org/drawingml/2006/main">
            <a:pPr algn="ctr">
              <a:defRPr sz="1350" b="1" i="0">
                <a:solidFill>
                  <a:srgbClr val="EAF2F8"/>
                </a:solidFill>
                <a:latin typeface="Microsoft YaHei"/>
                <a:ea typeface="Microsoft YaHei"/>
                <a:cs typeface="Microsoft YaHei"/>
              </a:defRPr>
            </a:pPr>
            <a:r>
              <a:t>而是复制“让 AI 被工程事实纠偏”的闭环。</a:t>
            </a:r>
          </a:p>
        </p:txBody>
      </p:sp>
    </p:spTree>
    <p:extLst>
      <p:ext uri="{BB962C8B-B14F-4D97-AF65-F5344CB8AC3E}">
        <p14:creationId xmlns:p14="http://schemas.microsoft.com/office/powerpoint/2010/main" val="9013501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47A2D1-F3A2-4ED9-B2F6-029A1C49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7593C-3847-4322-8FBC-0ADEA388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B9A4D-9CF9-40E1-BC5F-DB38537A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从 ysyx 到任意工程：复制的是闭环，不是平台名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E25F8-852F-4D97-BB03-44355E4B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ysyx 只是一个样例；换成 Web、编译器、ML 项目时，核心结构不变。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DA84B-8B91-4F54-93F3-1DB06130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 开发环境 | 来源：ChatGPT 分享页 + 当前仓库 .github 配置 | 2026-05-28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77A2D-89D4-4857-8DC3-0E74BA4A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C838C-EC5A-4F9E-8838-290C4B2B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9530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38E2E-218E-45DA-BDCE-4974604D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A085"/>
                </a:solidFill>
                <a:latin typeface="Microsoft YaHei"/>
                <a:ea typeface="Microsoft YaHei"/>
                <a:cs typeface="Microsoft YaHei"/>
              </a:defRPr>
            </a:pPr>
            <a:r>
              <a:t>ysyx 样例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01043-E33D-4933-B225-661E98BB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RTL 模块 → module testbench → Verilator/NEMU → DiffTest/trace/log → memory/task-runs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15679-A08E-475B-A0CE-A9DF89FB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4095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这里最重要的不是 RV32，也不是某个 Makefile；而是每次 AI 写完代码后，都有一个客观系统告诉它：通过、失败、失败在哪里。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54021-19D7-41D2-88DD-813C1226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04950"/>
            <a:ext cx="49530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C3745-6987-4F45-AEFA-15506523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7165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F8"/>
          </a:solidFill>
          <a:ln xmlns:a="http://schemas.openxmlformats.org/drawingml/2006/main" w="0">
            <a:solidFill>
              <a:srgbClr val="E7F5F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抽象公式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06C95-DA81-4B67-BB5B-DA635425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6695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工程对象 → 可运行反馈 → Agent 角色 → 记忆沉淀 → 下一轮更准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112B1-9F61-402B-8022-75F0E945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813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工程对象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494B6-83B1-45EA-97BE-111BC038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CPU、服务、编译器、模型、数据管线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770D1-8641-46EA-9E44-5DA07414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338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反馈标准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3086A-8094-45DB-AD62-E1F77410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testbench、unit test、golden output、SLO、eval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9974C-4045-47D2-BBB0-6484D23D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862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solidFill>
              <a:srgbClr val="EAF7F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证据沉淀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8D6F9-A602-4A76-92CE-35271A3B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435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命令、日志、指标、根因、下一步</a:t>
            </a:r>
          </a:p>
        </p:txBody>
      </p:sp>
    </p:spTree>
    <p:extLst>
      <p:ext uri="{BB962C8B-B14F-4D97-AF65-F5344CB8AC3E}">
        <p14:creationId xmlns:p14="http://schemas.microsoft.com/office/powerpoint/2010/main" val="18161625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C1B959-12E3-45AE-9636-4B9F694A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42F3A-3CF5-4F3F-88B5-DF73C4B4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A2176-1AAA-4C49-8C76-B5F7B89B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先明确工程：Agent 不是项目本体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BF5AB-8533-410E-9752-29B5AA89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要复刻环境，第一步不是写 prompt，而是定义这个工程到底要交付什么。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DD974-C297-49D2-A1E2-5CBA7E97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 开发环境 | 来源：ChatGPT 分享页 + 当前仓库 .github 配置 | 2026-05-28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3A698-1440-4361-87C6-0FE84C74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806F2-2B74-4C97-9F89-D36D338A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新项目开局时，先写下三个句子。写不出来，agent 配置就会飘。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060BF-9201-40C3-A446-E2B17AAC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10363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61E37-6617-4467-B76C-3A5DDCEC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465A4-F53D-4494-A197-272E3C3A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050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我要构建的对象是什么？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DDD35-898B-4957-8C78-782D3354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47950"/>
            <a:ext cx="809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例：一颗可跑 AM 程序的 RV32 CPU；一个订单 API；一个 IR 优化 pass；一个图像分类模型。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39C38-B178-4226-A693-8B5025D9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0363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E42BA-3997-4A34-A7EC-7A2EFF54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F3ED4-F83C-4656-AB82-3702A0D4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433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谁能判定它对不对？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9D7A0-3889-4C18-B0CB-4BF7D05E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809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例：module testbench、DiffTest、contract test、golden file、validation set、线上 SLO。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35C5E-636A-4265-85C2-3EC63E9A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10363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1F953-F889-4C2B-A25F-141B23DA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7F669-B647-4F07-8917-5B37AEE7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815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失败时如何收敛？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0B197-A0EB-4097-AE44-6164CDD7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24450"/>
            <a:ext cx="809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例：收集日志/波形/trace → 定边界 → 最小复现 → 修复 → 重新跑 gate → 写入记录。</a:t>
            </a:r>
          </a:p>
        </p:txBody>
      </p:sp>
    </p:spTree>
    <p:extLst>
      <p:ext uri="{BB962C8B-B14F-4D97-AF65-F5344CB8AC3E}">
        <p14:creationId xmlns:p14="http://schemas.microsoft.com/office/powerpoint/2010/main" val="13104873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D5C72-26B0-4649-AD35-8364CA69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41CE4-D1BB-496F-AA3B-6E1FB130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6F26C-B8FB-4A55-9E42-868AB2DD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反馈标准：每个工程都要有一个“会说真话”的验收器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10F5A-6342-4B5A-879E-C7F944A0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AI 可以写代码，但正确性必须由工程反馈来裁判。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CC0BE-B008-4E02-9586-96E76580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 开发环境 | 来源：ChatGPT 分享页 + 当前仓库 .github 配置 | 2026-05-28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492CC-F17A-4937-8FF9-3B349F6B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C00E2-BF1D-4598-8B4D-02BD3436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552700" cy="36195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EF9AF-EF2C-4F94-A241-048DC512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552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7131E-1C82-42DE-8554-BA88AA64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硬件/RTL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5F01F-D9A3-4016-846B-39F75C20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module testbench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Verilator lint/run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reference model / DiffTest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波形、trace、性能计数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49C5A-AE26-40F4-AA5E-F7E7E175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迁移时替换这一列，</a:t>
            </a:r>
          </a:p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不要替换整套方法。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5B43B-3CCD-40BD-BEA0-8663FB49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38300"/>
            <a:ext cx="2552700" cy="36195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5BF11-C574-4A69-88C7-63298092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38300"/>
            <a:ext cx="2552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15AE2-7B52-4300-AC6C-468C8BA8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24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Web 服务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8F83A-962E-49DF-A8C4-08385B7E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unit + contract test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integration/e2e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staging logs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latency/error-rate SLO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E454C-C550-4E04-B7EE-8C4FE61B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577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迁移时替换这一列，</a:t>
            </a:r>
          </a:p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不要替换整套方法。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9E318-E9FA-4B80-9EA8-2D0B0882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2552700" cy="36195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B0B3D-FD7C-41C1-A592-29DABD8A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2552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BDCCC-EC57-4AC8-9D19-CDBB9EB7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编译器/工具链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5925E-273A-43C3-8DD5-E640F4D0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parser / pass unit test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golden output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差分编译/解释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benchmark regression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1B01E-F5A7-4A46-BD01-7CCA63D3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迁移时替换这一列，</a:t>
            </a:r>
          </a:p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不要替换整套方法。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3C98B9-79D1-4F0D-9DF4-294A731C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38300"/>
            <a:ext cx="2552700" cy="36195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5D9762-A5AB-4A20-830A-7C725976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38300"/>
            <a:ext cx="2552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D9480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C1AB9-B9D5-4098-8E30-766246F3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24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ML/数据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68A58-EA2F-4943-81A6-043B9D6F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00300"/>
            <a:ext cx="2000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schema check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eval set metrics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数据漂移报告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实验记录与回滚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2A9534-DB21-49D4-9EB7-F0765E4B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577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迁移时替换这一列，</a:t>
            </a:r>
          </a:p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不要替换整套方法。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771A1C-7449-4739-9D8F-BB13BC52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1000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判断标准：它必须能自动运行、能产生日志、能让失败变成可定位的问题。</a:t>
            </a:r>
          </a:p>
        </p:txBody>
      </p:sp>
    </p:spTree>
    <p:extLst>
      <p:ext uri="{BB962C8B-B14F-4D97-AF65-F5344CB8AC3E}">
        <p14:creationId xmlns:p14="http://schemas.microsoft.com/office/powerpoint/2010/main" val="21442229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2383D5-0639-4D52-A550-311657D2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7EF83-B13F-4227-8CFF-C9F3BF73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27A86-8743-4BF8-9EFC-6A821C9C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五层配置栈：跨环境复刻的主骨架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FB9E2-6420-4D4A-A12A-8C93451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ysyx 的 .github/agents/instructions/memory/task-runs 可以抽象成一套通用工程配置栈。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95FE4-F431-48F4-87D5-0228F6E9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 开发环境 | 来源：ChatGPT 分享页 + 当前仓库 .github 配置 | 2026-05-28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FCDEB-70F9-4343-B524-40567225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07809-18FA-4D02-AA26-54CC4BF7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04950"/>
            <a:ext cx="981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入口层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FB701-4B81-4DAB-A174-671E1B76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76400"/>
            <a:ext cx="704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AGENTS.md、Copilot、Cursor、Codex、Claude、Gemini 等入口都回链到同一规则。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03552-23E5-4037-8699-4ACD7032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24100"/>
            <a:ext cx="9391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总规则层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D925E-9DA9-4258-A8E8-A2BF40A3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95550"/>
            <a:ext cx="676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项目事实、必读链、工作方式、验证要求；所有 agent 的共同契约。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14311-AAA5-4FDC-B381-E26E095B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43250"/>
            <a:ext cx="897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0F419-E798-4392-91A4-BA94AB59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14700"/>
            <a:ext cx="647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把 agent 变成岗位：coordinator、domain owner、verifier、recorder。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B35DC-0588-4CB5-B1AE-AF1FB50A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62400"/>
            <a:ext cx="8553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D9480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工程纪律层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83F03-0675-40AF-930C-BFD4A600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3385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D9480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把“怎么做”写成步骤：需求、契约、状态/数据模型、不变量、验证。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1CDE0-DE76-4A56-B42D-EE2B4401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81550"/>
            <a:ext cx="8134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53"/>
          </a:solidFill>
          <a:ln xmlns:a="http://schemas.openxmlformats.org/drawingml/2006/main" w="0">
            <a:solidFill>
              <a:srgbClr val="243B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证据记忆层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92125-C97A-4128-AE22-4B6720E3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530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53"/>
          </a:solidFill>
          <a:ln xmlns:a="http://schemas.openxmlformats.org/drawingml/2006/main" w="0">
            <a:solidFill>
              <a:srgbClr val="243B5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memory 保存长期事实，task-runs 保存单次任务过程和日志证据。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656FD-C528-4C43-B14A-217CC831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10250"/>
            <a:ext cx="942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迁移原则：入口文件和角色名可以变，五层责任不能丢。</a:t>
            </a:r>
          </a:p>
        </p:txBody>
      </p:sp>
    </p:spTree>
    <p:extLst>
      <p:ext uri="{BB962C8B-B14F-4D97-AF65-F5344CB8AC3E}">
        <p14:creationId xmlns:p14="http://schemas.microsoft.com/office/powerpoint/2010/main" val="3416008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C32F59-0D1E-49C4-A0E8-96A88224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B2D93-F16E-437A-8BE7-C0F8DC89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D750F-1086-4996-B77B-7D1324EF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入口层：多 AI 窗口不同，但第一句话必须一致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B96A9-B5E6-4949-B5A5-A96629AC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Copilot、Codex、Claude、Cursor 都可能读不同文件，所以要用 shim 把它们拉回统一规则。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21758-02CD-4D9C-8E76-4250292B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 开发环境 | 来源：ChatGPT 分享页 + 当前仓库 .github 配置 | 2026-05-28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12C57-3198-41C2-A006-37CBE357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539EE-3209-4520-9351-266E34D4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2819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EEE9B-B677-40AB-BD8D-50F94E6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19350"/>
            <a:ext cx="224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.github/AGENTS.md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64D6F-F89A-4C9F-9C43-A87201F4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5275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DD6E0"/>
                </a:solidFill>
                <a:latin typeface="Microsoft YaHei"/>
                <a:ea typeface="Microsoft YaHei"/>
                <a:cs typeface="Microsoft YaHei"/>
              </a:defRPr>
            </a:pPr>
            <a:r>
              <a:t>唯一工程契约</a:t>
            </a:r>
          </a:p>
          <a:p xmlns:a="http://schemas.openxmlformats.org/drawingml/2006/main">
            <a:pPr algn="ctr">
              <a:defRPr sz="1200" b="0" i="0">
                <a:solidFill>
                  <a:srgbClr val="CDD6E0"/>
                </a:solidFill>
                <a:latin typeface="Microsoft YaHei"/>
                <a:ea typeface="Microsoft YaHei"/>
                <a:cs typeface="Microsoft YaHei"/>
              </a:defRPr>
            </a:pPr>
            <a:r>
              <a:t>必读链 + 验证 + 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FA3D1-FF95-487B-A954-4B591028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E02B9-A909-4B24-8CFE-36DF0D54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6A085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AGENTS.md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A2935-FC17-4E33-86D6-D95BA68F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57388"/>
            <a:ext cx="442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5764A-FFA7-44A4-ABA8-E7B4010C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CF74E-F714-4F3E-BE0D-4A6EFFF5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.github/copilot-</a:t>
            </a:r>
          </a:p>
          <a:p xmlns:a="http://schemas.openxmlformats.org/drawingml/2006/main">
            <a:pPr algn="ctr">
              <a:defRPr sz="1200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instructions.md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B6CB9-9231-40C6-8B7C-F694CFCF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19638"/>
            <a:ext cx="442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97DB8-2A54-4118-A066-EAE833E2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811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DAB93-9F63-4E30-AC17-500AAC57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526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t>CLAUDE.md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83A19-A07F-4A48-9B13-2FF2324E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7388"/>
            <a:ext cx="442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D4F94-F856-494D-8557-E25BDDCF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4340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A3543-953E-4C35-B535-AFCFA5B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5148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9480F"/>
                </a:solidFill>
                <a:latin typeface="Microsoft YaHei"/>
                <a:ea typeface="Microsoft YaHei"/>
                <a:cs typeface="Microsoft YaHei"/>
              </a:defRPr>
            </a:pPr>
            <a:r>
              <a:t>.cursor/rules/</a:t>
            </a:r>
          </a:p>
          <a:p xmlns:a="http://schemas.openxmlformats.org/drawingml/2006/main">
            <a:pPr algn="ctr">
              <a:defRPr sz="1200" b="1" i="0">
                <a:solidFill>
                  <a:srgbClr val="D9480F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agents.mdc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667A3-2720-4808-915D-51D0C038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19638"/>
            <a:ext cx="442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D9480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FE67B6-DF55-45A2-A6F2-3C551ECA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4350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D0D2E6-2F5E-4AD9-A625-8BF6F6AB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149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t>GEMINI.md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8FFF14-655A-4352-A323-17C02D97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857500"/>
            <a:ext cx="28575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53"/>
          </a:solidFill>
          <a:ln xmlns:a="http://schemas.openxmlformats.org/drawingml/2006/main" w="0">
            <a:solidFill>
              <a:srgbClr val="243B5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501A0-3E1B-48DC-8392-46C5357B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0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落地动作：新工程先补入口 shim，再让每个工具都能发现同一份总规则。</a:t>
            </a:r>
          </a:p>
        </p:txBody>
      </p:sp>
    </p:spTree>
    <p:extLst>
      <p:ext uri="{BB962C8B-B14F-4D97-AF65-F5344CB8AC3E}">
        <p14:creationId xmlns:p14="http://schemas.microsoft.com/office/powerpoint/2010/main" val="2901242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217281-DC8B-4916-B925-78D26885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94426-6518-4564-8870-3586EC64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CEE1E-49EB-49D4-B039-E5C3ADA6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角色层：不要把一个 Agent 当全能工程师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849F0-32E0-4FC4-9601-BA2984F2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可复刻的配置不是模型名清单，而是一组稳定岗位。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3DE3F-2EDE-4012-94CA-40598D17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 开发环境 | 来源：ChatGPT 分享页 + 当前仓库 .github 配置 | 2026-05-28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8126E-05BB-4020-81A1-1676D72F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C0C3D-C784-4982-888F-475CFA84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5067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D2D41-274C-40ED-8DDD-B6DAAF61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53"/>
          </a:solidFill>
          <a:ln xmlns:a="http://schemas.openxmlformats.org/drawingml/2006/main" w="0">
            <a:solidFill>
              <a:srgbClr val="243B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C418A-62DC-4824-8FBC-DD63CA24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468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Coordinator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FD6D4-910C-4003-8269-1727AE87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466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选图、拆节点、判断依赖</a:t>
            </a:r>
          </a:p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/>
            </a:r>
          </a:p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新任务进来先选静态图；失败时插入 reproduce / collect-log / localize。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DD230-F855-47D9-AA52-C69E4DB9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5067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2B1CC-02CA-4C2E-A05E-5A3EEF35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DD9E3-896E-49E3-99AB-8E875FC7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468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Domain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DE1FF-6B96-499F-B8D2-11F60C04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14550"/>
            <a:ext cx="466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负责具体模块实现</a:t>
            </a:r>
          </a:p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/>
            </a:r>
          </a:p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硬件里是 npc/nemu/ysyx-soc；Web 里是 api/db/frontend；ML 里是 data/model/eval。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F33C8-929A-42FA-80D4-4A3ACCA4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5067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9B03D-1D1C-4263-B108-9AD0D091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F34123-7EF4-40CA-9742-E488659E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68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Verifier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19AE0-9A93-4C00-B6C3-0D888B6E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466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拥有验收命令和证据</a:t>
            </a:r>
          </a:p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/>
            </a:r>
          </a:p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只认可自动化 gate：testbench、unit test、DiffTest、e2e、eval。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A9C18-A62D-46D6-B77A-FBE2EA4D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5067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0F7E5-9D14-42E4-9C4C-060CF6E1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D33AA-8750-4DFA-AFD4-E64B7D33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468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Recorder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8CD81D-B59C-44B8-9BE7-C1FDFF01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29100"/>
            <a:ext cx="466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把经验分层沉淀</a:t>
            </a:r>
          </a:p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/>
            </a:r>
          </a:p>
          <a:p xmlns:a="http://schemas.openxmlformats.org/drawingml/2006/main">
            <a:pPr algn="l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稳定事实进 memory；一次任务过程、日志、命令进入 task-runs。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3CAAC-D8CE-4213-A29A-8D29F31D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迁移诀窍：先写岗位职责，再决定哪个 AI 工具承担它。</a:t>
            </a:r>
          </a:p>
        </p:txBody>
      </p:sp>
    </p:spTree>
    <p:extLst>
      <p:ext uri="{BB962C8B-B14F-4D97-AF65-F5344CB8AC3E}">
        <p14:creationId xmlns:p14="http://schemas.microsoft.com/office/powerpoint/2010/main" val="11529841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502CD9-C80E-4D42-AC06-CABBAE54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DEB8A-FB7C-4FCD-8A84-041FB4FD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7ACB1-DA7C-4E44-9B2A-D5AC6A07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指令层：把“怎么想”写成工程纪律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67A31-FC18-425A-97DE-BA430A3E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ysyx 的 RTL 四段式可以推广成所有工程的实现前推导。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57980-DCB6-40C1-92D8-D548E831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 开发环境 | 来源：ChatGPT 分享页 + 当前仓库 .github 配置 | 2026-05-28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56581-236F-40CB-B6E1-71EA0018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F9055-4F8E-49AA-AF02-8C4F1426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943100" cy="24384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FA18A-AE6B-4AED-9AB3-33E84563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77A76-6203-489F-8B63-089A9BDD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0B886-42BA-4221-A983-14E32101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要实现什么，对外可观察行为是什么？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35E0E-4790-412B-8EA4-F26FBF95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BD3D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7752C-0379-4E71-8A23-754ED64F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33550"/>
            <a:ext cx="1943100" cy="24384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4BC7C-6349-4CD3-869C-3A0E1CF7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62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73C2B-756F-4A56-823F-6BE858BB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契约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50FFB-87F2-49FA-AE59-77DE6AC8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3375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接口、协议、输入输出、错误语义。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6E0FD-6981-4F59-842A-6BC13D5B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81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BD3D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52F36-A63F-4DA4-9FF6-D0F6FA3C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33550"/>
            <a:ext cx="1943100" cy="24384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F4A64F-1861-4FCC-9DC5-A98AD9D4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62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E413B-4B7D-4CB9-898A-B217E6F6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765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状态/数据模型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133977-11AC-4BC7-8554-193ABAD5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状态机、数据流、生命周期、边界条件。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F931C-FDC1-46E4-8B37-9FF64FBE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BD3D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123FD-2A5F-4607-8397-59112238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33550"/>
            <a:ext cx="1943100" cy="24384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9336F-9F61-404C-9269-70506FD4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D9480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275195-ECFD-4B2C-8322-F77B1BE9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765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不变量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71E856-48D2-4C01-8BD7-415B7FD9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3375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任何时刻都必须成立的条件。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EEBDFF-1A39-4B6A-9601-A2FAFDEB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BD3D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94C71-48D8-4356-B365-E32E7E93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943100" cy="24384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12D5BD-5EB4-4A92-82C8-47BA1030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962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3"/>
          </a:solidFill>
          <a:ln xmlns:a="http://schemas.openxmlformats.org/drawingml/2006/main" w="0">
            <a:solidFill>
              <a:srgbClr val="243B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745F0-4AE9-411E-AB0B-2B42F6CA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765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实现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B367A3-9EBF-4F32-9201-A9B28CB8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代码/RTL/配置，严格服务于前四步。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2D7A22-D28D-4000-9E1C-B3DDE7A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9982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BC3C72-F20C-4606-A79E-A0077FA4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14900"/>
            <a:ext cx="942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例：写 Cache 不是先让 AI 写 Verilog，而是先写清 miss/fill/writeback 协议、状态机、不变量，再落 RTL 和 testbench。</a:t>
            </a:r>
          </a:p>
        </p:txBody>
      </p:sp>
    </p:spTree>
    <p:extLst>
      <p:ext uri="{BB962C8B-B14F-4D97-AF65-F5344CB8AC3E}">
        <p14:creationId xmlns:p14="http://schemas.microsoft.com/office/powerpoint/2010/main" val="6796866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B7B443-E502-4B85-BF22-B0AB2976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37B86-7A56-4ED3-B079-B4CFB8B3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16992-29E9-4772-99A1-C5371D5A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局部验收：testbench / unit test 是第一道闸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5A2F5-C9F2-4274-B69C-3BAC95B9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你提到的关键点很重要：Agent 写模块时，也要同步写验证它的测试。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DC71B-B5A1-4D93-BFBB-EB9AD2DA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 开发环境 | 来源：ChatGPT 分享页 + 当前仓库 .github 配置 | 2026-05-28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04161-D595-421D-902E-FFADFDA1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B5070-2DF2-48EB-B5A4-47B6D65B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模块级</a:t>
            </a:r>
          </a:p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写一个模块</a:t>
            </a:r>
          </a:p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立刻写 testbench / unit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B7C12-FE9C-4B39-A8A1-5A8575BD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29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CA43E-3E24-43A0-B29B-E7EDB16F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099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组件级</a:t>
            </a:r>
          </a:p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组合多个模块</a:t>
            </a:r>
          </a:p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跑 lint、接口、边界用例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44AE1-1F4E-4AB2-9913-DFC82928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38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D5BDE-7285-44DA-AE96-DDB0BB83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系统级</a:t>
            </a:r>
          </a:p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进入主仿真/服务</a:t>
            </a:r>
          </a:p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跑集成测试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E23A2-B50F-4F56-9F60-4950A88E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3824E-78E3-4828-BF9E-8D4D7654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288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D9480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参考级</a:t>
            </a:r>
          </a:p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与 reference / golden</a:t>
            </a:r>
          </a:p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做差分或指标对齐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DC78E-0BD0-4C71-93B7-7FCA5BEC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10058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215FF-51DF-4148-BA6F-3B8D8E9F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48300"/>
            <a:ext cx="952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一旦某个模块的 testbench 被写入 instructions/memory，下一次 Agent 写同类模块时就会自动把“写测试”当成标准动作。</a:t>
            </a:r>
          </a:p>
        </p:txBody>
      </p:sp>
    </p:spTree>
    <p:extLst>
      <p:ext uri="{BB962C8B-B14F-4D97-AF65-F5344CB8AC3E}">
        <p14:creationId xmlns:p14="http://schemas.microsoft.com/office/powerpoint/2010/main" val="21176845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74700C-2A15-4BC4-952D-7990DDD1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1D44F-8A0C-44E7-8BDA-A62D52E5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F50D7-9486-405E-B035-7140844B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运行循环：让 Agent 每轮都被证据校正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A65F7-A778-412D-A654-7A0A7188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RECALL → PLAN → DISPATCH → VERIFY → ADAPT → RECORD 是跨工程通用调度协议。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073DC-60B5-4D3D-883D-712C76CB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 开发环境 | 来源：ChatGPT 分享页 + 当前仓库 .github 配置 | 2026-05-28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B67AB-908B-41C8-BB58-777235D9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4B066-9CF6-4E6F-A31E-D43492CF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09700"/>
            <a:ext cx="17335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RECALL</a:t>
            </a:r>
          </a:p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读规则、记忆、相关模块资料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D8E28-17D7-41AC-A5F6-6BBE85F6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00300"/>
            <a:ext cx="17335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PLAN</a:t>
            </a:r>
          </a:p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选静态图或拆节点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B39D4-0213-4DCB-9023-EFBD5155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17335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DISPATCH</a:t>
            </a:r>
          </a:p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执行当前节点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624AF-9EC3-4532-9E25-17034B83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17335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D9480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VERIFY</a:t>
            </a:r>
          </a:p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跑 gate，拿日志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7338D-950F-42D5-9B89-846B4209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17335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53"/>
          </a:solidFill>
          <a:ln xmlns:a="http://schemas.openxmlformats.org/drawingml/2006/main" w="0">
            <a:solidFill>
              <a:srgbClr val="243B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ADAPT</a:t>
            </a:r>
          </a:p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失败则定位根因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D5F2C-C6CB-4111-902B-FC82BCAD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7335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RECORD</a:t>
            </a:r>
          </a:p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沉淀结论和证据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78D2A-A294-4B00-91E8-BA2314ED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C"/>
          </a:solidFill>
          <a:ln xmlns:a="http://schemas.openxmlformats.org/drawingml/2006/main" w="0">
            <a:solidFill>
              <a:srgbClr val="CBD3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6F866-561C-416A-AC79-BDA53148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181350"/>
            <a:ext cx="381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C"/>
          </a:solidFill>
          <a:ln xmlns:a="http://schemas.openxmlformats.org/drawingml/2006/main" w="0">
            <a:solidFill>
              <a:srgbClr val="CBD3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A07E8-C862-4182-963E-9756EEF7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3870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C"/>
          </a:solidFill>
          <a:ln xmlns:a="http://schemas.openxmlformats.org/drawingml/2006/main" w="0">
            <a:solidFill>
              <a:srgbClr val="CBD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84070-78F8-46C7-BD91-A29959CF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81350"/>
            <a:ext cx="381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C"/>
          </a:solidFill>
          <a:ln xmlns:a="http://schemas.openxmlformats.org/drawingml/2006/main" w="0">
            <a:solidFill>
              <a:srgbClr val="CBD3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D69C9-16E9-41F8-B19F-6D0C4AEF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95575"/>
            <a:ext cx="1495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C"/>
          </a:solidFill>
          <a:ln xmlns:a="http://schemas.openxmlformats.org/drawingml/2006/main" w="0">
            <a:solidFill>
              <a:srgbClr val="CBD3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873FC-948D-43BF-83E7-95CF490E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这套循环的目标不是让 AI 一次生成完美答案，而是让失败变成下一轮更好的输入。</a:t>
            </a:r>
          </a:p>
        </p:txBody>
      </p:sp>
    </p:spTree>
    <p:extLst>
      <p:ext uri="{BB962C8B-B14F-4D97-AF65-F5344CB8AC3E}">
        <p14:creationId xmlns:p14="http://schemas.microsoft.com/office/powerpoint/2010/main" val="14373009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FABD46-DE7A-43EA-A6C4-A55D028B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32F04-20E3-44C7-A319-3FD3EE59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1CC18-8B03-4EC3-8C06-2956AC58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例子 1：硬件模块，从 RTL 到 DiffTest 的闭环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D57AE-F17F-4E31-9489-31BF2D5D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把 ysyx 经验作为样例，但抽象方法适用于任何需要模拟/仿真的工程。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BF0CB-FCED-479B-B1D4-B98214EA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 开发环境 | 来源：ChatGPT 分享页 + 当前仓库 .github 配置 | 2026-05-28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8FC54-224A-4C1F-8E80-8BFBE670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4F2F2-B8AF-40AD-8C85-6CCEE826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885950" cy="27622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20EA3-98D3-4D89-A2F0-15BF92F1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75546-DFC2-429A-9276-C6929DCF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2BDBD-D90C-44E4-A2A1-E0EC5E58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1504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新增/修改一个 RTL 模块</a:t>
            </a:r>
          </a:p>
          <a:p xmlns:a="http://schemas.openxmlformats.org/drawingml/2006/main">
            <a:pPr algn="ctr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例：Cache、ALU、流水线控制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87FE5-BFE4-4E74-8E91-BC185B02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003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BD3D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1A57D-1BB1-4203-A6B5-08CE015F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95450"/>
            <a:ext cx="1885950" cy="27622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E72FC-06A7-4ECA-8587-F7F180D2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95450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F2AC1-17A5-4CD1-B8C4-3BA4B6F8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推导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E3CEB-1425-4004-8943-B773B95F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33650"/>
            <a:ext cx="1504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需求 → 协议 → 状态机</a:t>
            </a:r>
          </a:p>
          <a:p xmlns:a="http://schemas.openxmlformats.org/drawingml/2006/main">
            <a:pPr algn="ctr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→ 不变量 → 数据通路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C5287-8669-4CD6-9E30-45AFF603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BD3D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E4899-A745-4775-9EE3-26AFE51A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95450"/>
            <a:ext cx="1885950" cy="27622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D5587-706F-4D22-AB38-27DCDC90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95450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86365-3256-48A1-92A2-04296ED5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002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局部验收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830C1-39A8-42EE-B140-419866A1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33650"/>
            <a:ext cx="1504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同步生成 module testbench</a:t>
            </a:r>
          </a:p>
          <a:p xmlns:a="http://schemas.openxmlformats.org/drawingml/2006/main">
            <a:pPr algn="ctr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覆盖 hit/miss/边界/异常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7C8F6-18F7-4F27-BB93-4AA81AC0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BD3D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B42C3E-115A-44B2-98E2-044CE463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95450"/>
            <a:ext cx="1885950" cy="27622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F99B15-A084-43BA-B32A-BB2410DC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95450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D9480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23EE9-CFFE-4A7E-9E31-5611E881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002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系统验收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39EFA0-B08B-48CD-B1BC-E3023D20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33650"/>
            <a:ext cx="1504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Verilator lint/run</a:t>
            </a:r>
          </a:p>
          <a:p xmlns:a="http://schemas.openxmlformats.org/drawingml/2006/main">
            <a:pPr algn="ctr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NEMU reference + DiffTest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6F847-572C-458D-8B36-6A37F0F0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BD3D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F6CB97-0A41-4B12-86A3-7EC788C3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695450"/>
            <a:ext cx="1885950" cy="27622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C7D2FE-61A6-4DD7-BD21-7E48542D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695450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53"/>
          </a:solidFill>
          <a:ln xmlns:a="http://schemas.openxmlformats.org/drawingml/2006/main" w="0">
            <a:solidFill>
              <a:srgbClr val="243B5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99E1C9-455E-4B3A-B0A3-08E6AC16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0025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5DF415-9CC5-4422-9A2C-493C8146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33650"/>
            <a:ext cx="1504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通过命令、失败日志、根因</a:t>
            </a:r>
          </a:p>
          <a:p xmlns:a="http://schemas.openxmlformats.org/drawingml/2006/main">
            <a:pPr algn="ctr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写入 task-runs/memory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A06183-DFF7-4906-8258-1F2952E1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0058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CB2F8D-8A2F-440E-8247-A6A6842D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0065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关键迁移点：如果新工程不是硬件，也要找到自己的“testbench”。它可能叫 unit test、golden output、contract test 或 eval set。</a:t>
            </a:r>
          </a:p>
        </p:txBody>
      </p:sp>
    </p:spTree>
    <p:extLst>
      <p:ext uri="{BB962C8B-B14F-4D97-AF65-F5344CB8AC3E}">
        <p14:creationId xmlns:p14="http://schemas.microsoft.com/office/powerpoint/2010/main" val="17364217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808D8E-476C-44C9-B51E-A067063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331F7-9D8E-4213-A0EE-5D1064BE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41C84-9B3C-4E24-A534-3404188D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例子 2：换成 Web API，配置结构仍然成立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7DC8C-3569-48CD-926B-E56D2814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这页刻意不用硬件词汇，说明经验如何跨环境迁移。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DF64D-7A24-43FC-99F8-8CC1BCC0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 开发环境 | 来源：ChatGPT 分享页 + 当前仓库 .github 配置 | 2026-05-28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E9A21-9B9B-4845-90BE-B59723EE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48AD9-086E-4463-8B87-BA1D4CE8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工程对象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073BD-5E05-43B7-B3F9-D96D572E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09700"/>
            <a:ext cx="7886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5A60C-763D-44D7-BB61-C873EA7D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5621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 /api/orders/refund 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4E65E-FD97-4D45-AC6E-FE6A0BE3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契约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82580-1C30-4E3E-9266-9AD34A3F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52650"/>
            <a:ext cx="7886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CD977-E85E-4231-8C17-117AD559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050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OpenAPI schema、权限、幂等键、错误码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B32A6-F99F-4FF8-9C5C-09220C3B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局部反馈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B3061-3CFE-42E3-A237-C3E78553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95600"/>
            <a:ext cx="7886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1B2CE-83CE-4105-8760-DDF6F6E5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480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service unit test、DB transaction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90E77-EAB1-48A4-9567-0829227F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D9480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系统反馈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19E74-1F36-4445-89BB-9E6D69F5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38550"/>
            <a:ext cx="7886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96E92-DCA4-4F9A-9D08-58D283E9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909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integration test、staging log、latency SLO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74667-AB81-4729-9FF4-AC2E31A1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53"/>
          </a:solidFill>
          <a:ln xmlns:a="http://schemas.openxmlformats.org/drawingml/2006/main" w="0">
            <a:solidFill>
              <a:srgbClr val="243B5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证据沉淀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1C291-385D-46D2-8E64-BB7F5790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81500"/>
            <a:ext cx="7886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8CBFE-F5F2-4FF4-9DE8-16461EEB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339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失败样本、根因、回归命令、下一步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E6358-6220-4720-846E-7FC7876F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00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同一套 agent 配置，只是把 DiffTest 换成 contract/e2e/SLO，把波形换成日志和 trace。</a:t>
            </a:r>
          </a:p>
        </p:txBody>
      </p:sp>
    </p:spTree>
    <p:extLst>
      <p:ext uri="{BB962C8B-B14F-4D97-AF65-F5344CB8AC3E}">
        <p14:creationId xmlns:p14="http://schemas.microsoft.com/office/powerpoint/2010/main" val="70989470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F779EF-79F5-4EEF-BA0B-1DA2203F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D9F09-2DAE-4CA8-955B-2ECF12B0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44230-D51B-406E-B2C9-8D4351E3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记忆系统：memory 和 task-runs 不要混用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62580-4A8B-4B20-876F-8D88D5AF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长期知识和单次证据分开，agent 才能跨会话学习而不被日志污染。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B1A42-B0E2-4046-A253-A06A4E9D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 开发环境 | 来源：ChatGPT 分享页 + 当前仓库 .github 配置 | 2026-05-28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B3D2A-FF5E-4690-8B98-93C0D463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35C27-F8B3-4018-B37E-E6F62065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F8142-6E81-4C3D-B422-EBFC4523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50C2B-4301-4633-ABB9-AE5DD159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memory：稳定事实库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FC18C-2CCB-43E4-9B45-A7CF259A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4095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放什么：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项目当前阶段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模块边界和接口事实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已确认的设计决策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长期已知问题和教训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可复用命令入口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801E9-48EA-4D26-B24D-3810B0D1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例：Cache 已从 host 模型迁到 RTL，旧 host counter 不再代表真实硬件。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E5B54-62C9-47D6-B4EB-B7CD0C73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2FBA3-C3FB-46AD-96B4-CC30260D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F35D2-39C4-4041-9FDE-D827D5B6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621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task-runs：单次任务证据链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118E7-E5B5-4CDC-80CA-90B58D4A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14600"/>
            <a:ext cx="4095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放什么：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任务目标和选图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节点状态与 owner_agent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执行命令和日志路径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失败根因和修复尝试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最终验证证据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2EE3C-A461-4D45-A915-DE16F523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862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例：本次 Cache 修改跑了哪些 testbench、哪些 DiffTest、哪些性能指标。</a:t>
            </a:r>
          </a:p>
        </p:txBody>
      </p:sp>
    </p:spTree>
    <p:extLst>
      <p:ext uri="{BB962C8B-B14F-4D97-AF65-F5344CB8AC3E}">
        <p14:creationId xmlns:p14="http://schemas.microsoft.com/office/powerpoint/2010/main" val="4379606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6E5983-DB20-4431-8920-313643F9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42FD7-81CF-42D6-A56A-19BFEEE8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ED0D0-91B5-46A4-97F9-CAD1CCDD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跨环境打包清单：带走工作流，不带走机器噪音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568A2-A8C1-47C4-A46B-71415809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换工程时，把可复刻规则、角色、模板和少量示例带走；不要把本机日志和凭证也带走。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1760E-720C-4AA3-8030-412A623A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 开发环境 | 来源：ChatGPT 分享页 + 当前仓库 .github 配置 | 2026-05-28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810B9-3368-45DB-960F-270D584A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FD745-B6EB-44AC-B489-73FAFABF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D5505-D90D-41B1-8AD6-D530DB50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28750"/>
            <a:ext cx="857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BE490-8D8C-494B-9008-D00DAC43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6210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AGENTS.md / CLAUDE.md / GEMINI.md / .cursor / .github/copilot-instructions.md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0CAC5-5503-4E1F-83D6-9C80F713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总规则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6E4C7-EABB-4805-A8A2-2EECC3C0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76450"/>
            <a:ext cx="857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5ABC6-DAFC-41F9-94B4-7226EDA3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0980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.github/AGENTS.md + 项目专属工程事实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375B9-46CC-44E3-B878-347E5C20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F888D-6430-460B-BE6C-3628D01B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24150"/>
            <a:ext cx="857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E507A-09D2-4A27-BEE2-151C932F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5750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.github/agents/*.agent.md，按新工程替换 domain owner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8486B-C086-452A-9753-44068505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纪律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CB3E4-EE65-4425-B3BA-FFD078D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71850"/>
            <a:ext cx="857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7F62F-D9F4-4D2D-B533-5C102E74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0520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.github/instructions/*.instructions.md，保留通用方法，替换技术栈细节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86738-8DDD-4D14-8302-B54C124C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记忆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71A29-748E-4791-822D-D5EFDF63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19550"/>
            <a:ext cx="857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D309A-80FD-4704-B8F4-907E0118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5290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.github/memory/ 的脱敏稳定事实，不带长日志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D24C8A-DE25-48FE-A551-47880035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模板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5808E-DA94-4A0E-BD10-6FB0604F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67250"/>
            <a:ext cx="857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62BA6B-0D7D-4DF7-BC30-D3C0B3C4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0060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.github/task-runs/templates/ + evidence.json 示例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A86738-AC18-43E7-A4BD-032B0AEA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检查项：secret 扫描、本机路径脱敏、历史 task-run 只保留模板或精选样例。</a:t>
            </a:r>
          </a:p>
        </p:txBody>
      </p:sp>
    </p:spTree>
    <p:extLst>
      <p:ext uri="{BB962C8B-B14F-4D97-AF65-F5344CB8AC3E}">
        <p14:creationId xmlns:p14="http://schemas.microsoft.com/office/powerpoint/2010/main" val="59292982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D2E8A2-548D-4320-A3B5-45318AF4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EF8F9-2DA2-426A-812A-797073D3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7BC96-86E5-41BE-9277-67321FF6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质量门禁：把“能跑”变成自动化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FCFF1-DDE4-47A6-8FDE-28B05974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复刻环境成功的标志，是新 agent 能自己执行 smoke 并写下证据。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37A21-1994-485C-8DB1-B636E184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 开发环境 | 来源：ChatGPT 分享页 + 当前仓库 .github 配置 | 2026-05-28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3D7DC-7221-4757-BC0C-C8FD02CE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534F7-3BF9-446C-BF67-C5E22CF3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381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8E14C-C859-485F-A463-48B4B78D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44612-3ADC-49C5-9AC7-4F0E68F8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431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Discovery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AAA0A-EAD4-407F-AB92-6DA1553E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AI 能读到统一入口规则</a:t>
            </a:r>
          </a:p>
          <a:p xmlns:a="http://schemas.openxmlformats.org/drawingml/2006/main">
            <a:pPr algn="l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并知道必读链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A47E2-2C48-4A4D-9D8C-8E967882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2381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280EB-B7DD-4B12-9360-286BFA74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11795-25B3-4A47-B30E-E8A529C3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431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Build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1921A-E472-4A67-888C-816F97FD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003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工程能构建：lint / compile</a:t>
            </a:r>
          </a:p>
          <a:p xmlns:a="http://schemas.openxmlformats.org/drawingml/2006/main">
            <a:pPr algn="l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依赖路径可复现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834B2-0C9A-4C64-9DB5-3C1FFEC8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2381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93307-0854-4A15-801A-866B341B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FB9DD-0DC2-497B-8A8F-AB5FD782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431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Run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C8A75-8D2C-4A86-B9A9-D1F2C3FD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003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核心反馈可运行：testbench</a:t>
            </a:r>
          </a:p>
          <a:p xmlns:a="http://schemas.openxmlformats.org/drawingml/2006/main">
            <a:pPr algn="l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unit/e2e/eval/reference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E90C3-A4AB-4D56-88C1-1E28D62D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0"/>
            <a:ext cx="2381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D5069-1F5B-4CA6-8D41-82A58034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D9480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1A58D-E956-4027-94A1-D345F413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431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Record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AB547B-835E-4742-8A37-80DA619F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03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memory/task-runs/evidence.json</a:t>
            </a:r>
          </a:p>
          <a:p xmlns:a="http://schemas.openxmlformats.org/drawingml/2006/main">
            <a:pPr algn="l">
              <a:defRPr sz="1050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记录命令和结论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1042B-317A-4BEC-B4E8-9AECB3B9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97536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DBC54-A3F4-4632-8C98-991C2E64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t>硬件：make -C npc/sim status &amp;&amp; make -C npc/single/testbench run</a:t>
            </a:r>
          </a:p>
          <a:p xmlns:a="http://schemas.openxmlformats.org/drawingml/2006/main">
            <a:pPr algn="l">
              <a:defRPr sz="1350" b="0" i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t>Web：npm test &amp;&amp; npm run test:contract &amp;&amp; npm run smoke:staging</a:t>
            </a:r>
          </a:p>
          <a:p xmlns:a="http://schemas.openxmlformats.org/drawingml/2006/main">
            <a:pPr algn="l">
              <a:defRPr sz="1350" b="0" i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t>编译器：cargo test &amp;&amp; ./golden-run.sh &amp;&amp; ./bench-regression.sh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B7985-FCCA-4ABE-ABF7-8CB73FAD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769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门禁不是装饰；它决定 agent 的下一轮记忆是否可信。</a:t>
            </a:r>
          </a:p>
        </p:txBody>
      </p:sp>
    </p:spTree>
    <p:extLst>
      <p:ext uri="{BB962C8B-B14F-4D97-AF65-F5344CB8AC3E}">
        <p14:creationId xmlns:p14="http://schemas.microsoft.com/office/powerpoint/2010/main" val="60995410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B1B7F0-5240-4C2D-AD5E-2569C4C4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90C05-7237-4784-B292-B15D81D2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01A15-429D-4822-A389-73A76A6F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新项目 7 天落地路径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7CB1D-1299-4ADC-BB47-B1084732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773"/>
                </a:solidFill>
                <a:latin typeface="Microsoft YaHei"/>
                <a:ea typeface="Microsoft YaHei"/>
                <a:cs typeface="Microsoft YaHei"/>
              </a:defRPr>
            </a:pPr>
            <a:r>
              <a:t>把 ysyx 经验迁移到新工程时，按这个顺序搭环境。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0ADF1-2208-47F7-BB18-901FFF70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t>跨工程 AI Agent 开发环境 | 来源：ChatGPT 分享页 + 当前仓库 .github 配置 | 2026-05-28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41BB8-BB2D-42BE-8EF1-F4F458F6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7285"/>
                </a:solidFill>
                <a:latin typeface="Microsoft YaHei"/>
                <a:ea typeface="Microsoft YaHei"/>
                <a:cs typeface="Microsoft YaHei"/>
              </a:defRPr>
            </a:pPr>
            <a: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090BF-D125-49F5-B906-4B3A6810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1219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DD5C3-0427-4DCF-9F1A-B932EE07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Day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9857D-5819-40D8-9E08-FC32792D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定义工程对象</a:t>
            </a:r>
          </a:p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写 AGENTS 总入口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0E5B0-6067-4685-B2B2-74CE0A6A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C"/>
          </a:solidFill>
          <a:ln xmlns:a="http://schemas.openxmlformats.org/drawingml/2006/main" w="0">
            <a:solidFill>
              <a:srgbClr val="CBD3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F2C4E-8B37-415A-948E-35DDF3DB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62250"/>
            <a:ext cx="1219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FC1FE-7884-4F6C-AAF4-6EF6CD88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527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Day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83BA5-BC96-4247-A8B4-57DAB26E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3850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确定反馈标准</a:t>
            </a:r>
          </a:p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补最小 smoke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6BD7F-D4E0-4FEB-A6F5-768FED3F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0005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C"/>
          </a:solidFill>
          <a:ln xmlns:a="http://schemas.openxmlformats.org/drawingml/2006/main" w="0">
            <a:solidFill>
              <a:srgbClr val="CBD3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01659-1551-42BD-8BFB-063E350B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95550"/>
            <a:ext cx="1219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ED5E3-A94B-47BB-9133-2A087C0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860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Day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96C6D-5DBB-49F2-A20C-6E27077D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7180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拆 agent 岗位</a:t>
            </a:r>
          </a:p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coordinator + domain + verifier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6B4D4-5F3B-483C-BCDB-497C8DC7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005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C"/>
          </a:solidFill>
          <a:ln xmlns:a="http://schemas.openxmlformats.org/drawingml/2006/main" w="0">
            <a:solidFill>
              <a:srgbClr val="CBD3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06557-17DF-453B-8407-D8DB7E3A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28950"/>
            <a:ext cx="1219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D9480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E6B55-B5E5-47D7-B1FD-6535E16D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194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D9480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Day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58BB7-5E1E-46DD-8CB4-31208C34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0520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0F"/>
          </a:solidFill>
          <a:ln xmlns:a="http://schemas.openxmlformats.org/drawingml/2006/main" w="0">
            <a:solidFill>
              <a:srgbClr val="D9480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写 instructions</a:t>
            </a:r>
          </a:p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实现前推导与验证纪律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57FF3-7CB6-4C1C-8B3D-1645D362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005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C"/>
          </a:solidFill>
          <a:ln xmlns:a="http://schemas.openxmlformats.org/drawingml/2006/main" w="0">
            <a:solidFill>
              <a:srgbClr val="CBD3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739E3-57D5-45CD-9D14-9F8BFE90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62250"/>
            <a:ext cx="1219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53"/>
          </a:solidFill>
          <a:ln xmlns:a="http://schemas.openxmlformats.org/drawingml/2006/main" w="0">
            <a:solidFill>
              <a:srgbClr val="243B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6DE134-27A1-44D9-9BE5-0DF951A1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527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53"/>
          </a:solidFill>
          <a:ln xmlns:a="http://schemas.openxmlformats.org/drawingml/2006/main" w="0">
            <a:solidFill>
              <a:srgbClr val="243B5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Day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DED64-B9AD-4EF9-A733-4251A1F8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3850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53"/>
          </a:solidFill>
          <a:ln xmlns:a="http://schemas.openxmlformats.org/drawingml/2006/main" w="0">
            <a:solidFill>
              <a:srgbClr val="243B5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建 memory/task-runs</a:t>
            </a:r>
          </a:p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分离长期事实和单次证据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FEC77-78F9-444C-BE21-34FE252A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0005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C"/>
          </a:solidFill>
          <a:ln xmlns:a="http://schemas.openxmlformats.org/drawingml/2006/main" w="0">
            <a:solidFill>
              <a:srgbClr val="CBD3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6CF23F-9D5A-4842-AB65-7A99B8BB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1219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35F5D0-5ADA-4DF2-ABC0-8D0C8E41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860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Day 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75546B-8412-4468-8CFF-EDC8AA21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跑一次真实任务</a:t>
            </a:r>
          </a:p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失败也要完整记录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4684E1-024D-4406-8234-9904D15F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0005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C"/>
          </a:solidFill>
          <a:ln xmlns:a="http://schemas.openxmlformats.org/drawingml/2006/main" w="0">
            <a:solidFill>
              <a:srgbClr val="CBD3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286504-C818-44AE-98DE-C1436838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28950"/>
            <a:ext cx="1219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EDAC05-9F2A-48DA-A5F0-6B41EBD4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Day 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2C52CD-7955-49BF-8826-95F8AF39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0520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solidFill>
              <a:srgbClr val="16A08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把重复动态图</a:t>
            </a:r>
          </a:p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升级成静态模板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5CB28B-8274-4C25-95FA-0E750D10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0005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C"/>
          </a:solidFill>
          <a:ln xmlns:a="http://schemas.openxmlformats.org/drawingml/2006/main" w="0">
            <a:solidFill>
              <a:srgbClr val="CBD3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41884C-BB40-4F33-A8EE-AC4778AD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9113"/>
            <a:ext cx="10134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C"/>
          </a:solidFill>
          <a:ln xmlns:a="http://schemas.openxmlformats.org/drawingml/2006/main" w="0">
            <a:solidFill>
              <a:srgbClr val="CBD3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8041A8-EFC8-48D4-ADF0-45D2FEAD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9258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E7701E-8B29-41EB-A755-9A6ACE94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57800"/>
            <a:ext cx="868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t>最后的判断：换一个工程后，Agent 是否仍能“读规则、找反馈、跑验证、写证据”。能做到，环境才算真正可复刻。</a:t>
            </a:r>
          </a:p>
        </p:txBody>
      </p:sp>
    </p:spTree>
    <p:extLst>
      <p:ext uri="{BB962C8B-B14F-4D97-AF65-F5344CB8AC3E}">
        <p14:creationId xmlns:p14="http://schemas.microsoft.com/office/powerpoint/2010/main" val="1186695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2026-05-28T08:40:40.4470000Z</dcterms:created>
  <dcterms:modified xsi:type="dcterms:W3CDTF">2026-05-28T08:40:40.4470000Z</dcterms:modified>
</coreProperties>
</file>