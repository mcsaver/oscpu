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adec63b20a4b25" /><Relationship Type="http://schemas.openxmlformats.org/officeDocument/2006/relationships/extended-properties" Target="/docProps/app.xml" Id="R47f7bc947a5347ba" /><Relationship Type="http://schemas.openxmlformats.org/officeDocument/2006/relationships/officeDocument" Target="/ppt/presentation.xml" Id="R6b3838c3ac2a40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2ad961153c45eb"/>
  </p:sldMasterIdLst>
  <p:notesMasterIdLst>
    <p:notesMasterId xmlns:r="http://schemas.openxmlformats.org/officeDocument/2006/relationships" r:id="R9abe23640f05460c"/>
  </p:notesMasterIdLst>
  <p:sldIdLst>
    <p:sldId xmlns:r="http://schemas.openxmlformats.org/officeDocument/2006/relationships" id="256" r:id="Re5e2174fafb04130"/>
    <p:sldId xmlns:r="http://schemas.openxmlformats.org/officeDocument/2006/relationships" id="257" r:id="Rd6001e957e06470b"/>
    <p:sldId xmlns:r="http://schemas.openxmlformats.org/officeDocument/2006/relationships" id="258" r:id="Rc1ada955d53d4037"/>
    <p:sldId xmlns:r="http://schemas.openxmlformats.org/officeDocument/2006/relationships" id="259" r:id="R66a8cf1fec14439c"/>
    <p:sldId xmlns:r="http://schemas.openxmlformats.org/officeDocument/2006/relationships" id="260" r:id="Rd451dc7721b04b97"/>
    <p:sldId xmlns:r="http://schemas.openxmlformats.org/officeDocument/2006/relationships" id="261" r:id="R4a0312236c5b4821"/>
    <p:sldId xmlns:r="http://schemas.openxmlformats.org/officeDocument/2006/relationships" id="262" r:id="Rd10754021d654c47"/>
    <p:sldId xmlns:r="http://schemas.openxmlformats.org/officeDocument/2006/relationships" id="263" r:id="R689c7b967ad54ef9"/>
    <p:sldId xmlns:r="http://schemas.openxmlformats.org/officeDocument/2006/relationships" id="264" r:id="Rc63026760d4f471e"/>
    <p:sldId xmlns:r="http://schemas.openxmlformats.org/officeDocument/2006/relationships" id="265" r:id="Ra687f8ecd2fe4eaa"/>
    <p:sldId xmlns:r="http://schemas.openxmlformats.org/officeDocument/2006/relationships" id="266" r:id="R017d79b48f724b34"/>
    <p:sldId xmlns:r="http://schemas.openxmlformats.org/officeDocument/2006/relationships" id="267" r:id="R16392d4d9d484feb"/>
    <p:sldId xmlns:r="http://schemas.openxmlformats.org/officeDocument/2006/relationships" id="268" r:id="R1e9499d0f7c94905"/>
    <p:sldId xmlns:r="http://schemas.openxmlformats.org/officeDocument/2006/relationships" id="269" r:id="R2d4eadb9439c400e"/>
    <p:sldId xmlns:r="http://schemas.openxmlformats.org/officeDocument/2006/relationships" id="270" r:id="R4e33f954e11e42f8"/>
    <p:sldId xmlns:r="http://schemas.openxmlformats.org/officeDocument/2006/relationships" id="271" r:id="Rd1822698b41c43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ad961153c45eb" /><Relationship Type="http://schemas.openxmlformats.org/officeDocument/2006/relationships/theme" Target="/ppt/theme/theme1.xml" Id="R96fbe5117bb44a5f" /><Relationship Type="http://schemas.openxmlformats.org/officeDocument/2006/relationships/notesMaster" Target="/ppt/notesMasters/notesMaster1.xml" Id="R9abe23640f05460c" /><Relationship Type="http://schemas.openxmlformats.org/officeDocument/2006/relationships/presProps" Target="/ppt/presProps.xml" Id="R8ce364cfc1c14219" /><Relationship Type="http://schemas.openxmlformats.org/officeDocument/2006/relationships/viewProps" Target="/ppt/viewProps.xml" Id="Rcf0afe70e5a041ec" /><Relationship Type="http://schemas.openxmlformats.org/officeDocument/2006/relationships/tableStyles" Target="/ppt/tableStyles.xml" Id="R399aa28de6764585" /><Relationship Type="http://schemas.openxmlformats.org/officeDocument/2006/relationships/slide" Target="/ppt/slides/slide1.xml" Id="Re5e2174fafb04130" /><Relationship Type="http://schemas.openxmlformats.org/officeDocument/2006/relationships/slide" Target="/ppt/slides/slide2.xml" Id="Rd6001e957e06470b" /><Relationship Type="http://schemas.openxmlformats.org/officeDocument/2006/relationships/slide" Target="/ppt/slides/slide3.xml" Id="Rc1ada955d53d4037" /><Relationship Type="http://schemas.openxmlformats.org/officeDocument/2006/relationships/slide" Target="/ppt/slides/slide4.xml" Id="R66a8cf1fec14439c" /><Relationship Type="http://schemas.openxmlformats.org/officeDocument/2006/relationships/slide" Target="/ppt/slides/slide5.xml" Id="Rd451dc7721b04b97" /><Relationship Type="http://schemas.openxmlformats.org/officeDocument/2006/relationships/slide" Target="/ppt/slides/slide6.xml" Id="R4a0312236c5b4821" /><Relationship Type="http://schemas.openxmlformats.org/officeDocument/2006/relationships/slide" Target="/ppt/slides/slide7.xml" Id="Rd10754021d654c47" /><Relationship Type="http://schemas.openxmlformats.org/officeDocument/2006/relationships/slide" Target="/ppt/slides/slide8.xml" Id="R689c7b967ad54ef9" /><Relationship Type="http://schemas.openxmlformats.org/officeDocument/2006/relationships/slide" Target="/ppt/slides/slide9.xml" Id="Rc63026760d4f471e" /><Relationship Type="http://schemas.openxmlformats.org/officeDocument/2006/relationships/slide" Target="/ppt/slides/slide10.xml" Id="Ra687f8ecd2fe4eaa" /><Relationship Type="http://schemas.openxmlformats.org/officeDocument/2006/relationships/slide" Target="/ppt/slides/slide11.xml" Id="R017d79b48f724b34" /><Relationship Type="http://schemas.openxmlformats.org/officeDocument/2006/relationships/slide" Target="/ppt/slides/slide12.xml" Id="R16392d4d9d484feb" /><Relationship Type="http://schemas.openxmlformats.org/officeDocument/2006/relationships/slide" Target="/ppt/slides/slide13.xml" Id="R1e9499d0f7c94905" /><Relationship Type="http://schemas.openxmlformats.org/officeDocument/2006/relationships/slide" Target="/ppt/slides/slide14.xml" Id="R2d4eadb9439c400e" /><Relationship Type="http://schemas.openxmlformats.org/officeDocument/2006/relationships/slide" Target="/ppt/slides/slide15.xml" Id="R4e33f954e11e42f8" /><Relationship Type="http://schemas.openxmlformats.org/officeDocument/2006/relationships/slide" Target="/ppt/slides/slide16.xml" Id="Rd1822698b41c43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44ebc44c3fb42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c754b6f7ce4cb7" /><Relationship Type="http://schemas.openxmlformats.org/officeDocument/2006/relationships/notesMaster" Target="/ppt/notesMasters/notesMaster1.xml" Id="Rc7ac18bcdef24b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67012b292b4d34" /><Relationship Type="http://schemas.openxmlformats.org/officeDocument/2006/relationships/notesMaster" Target="/ppt/notesMasters/notesMaster1.xml" Id="Re93d53829a0b45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dfcf8d8dcb47dd" /><Relationship Type="http://schemas.openxmlformats.org/officeDocument/2006/relationships/notesMaster" Target="/ppt/notesMasters/notesMaster1.xml" Id="R3888db2b292f4c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c83fd49eae4894" /><Relationship Type="http://schemas.openxmlformats.org/officeDocument/2006/relationships/notesMaster" Target="/ppt/notesMasters/notesMaster1.xml" Id="Rd84e78c4293349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b852225ea44287" /><Relationship Type="http://schemas.openxmlformats.org/officeDocument/2006/relationships/notesMaster" Target="/ppt/notesMasters/notesMaster1.xml" Id="Re120906edeb84c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78b94f18104a4a" /><Relationship Type="http://schemas.openxmlformats.org/officeDocument/2006/relationships/notesMaster" Target="/ppt/notesMasters/notesMaster1.xml" Id="Rec17d17356f247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b0beed8d1d4576" /><Relationship Type="http://schemas.openxmlformats.org/officeDocument/2006/relationships/notesMaster" Target="/ppt/notesMasters/notesMaster1.xml" Id="R16bdb6e803a848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cf29745db44e12" /><Relationship Type="http://schemas.openxmlformats.org/officeDocument/2006/relationships/notesMaster" Target="/ppt/notesMasters/notesMaster1.xml" Id="R2cf96ebc872c48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48381db44a448c" /><Relationship Type="http://schemas.openxmlformats.org/officeDocument/2006/relationships/notesMaster" Target="/ppt/notesMasters/notesMaster1.xml" Id="R0e4c08889d4e4e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b091cb2cca4df4" /><Relationship Type="http://schemas.openxmlformats.org/officeDocument/2006/relationships/notesMaster" Target="/ppt/notesMasters/notesMaster1.xml" Id="Rda8fea94e07c4a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2b23ec52fd4a52" /><Relationship Type="http://schemas.openxmlformats.org/officeDocument/2006/relationships/notesMaster" Target="/ppt/notesMasters/notesMaster1.xml" Id="Red5215c76fc44e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4bbab5c03942f8" /><Relationship Type="http://schemas.openxmlformats.org/officeDocument/2006/relationships/notesMaster" Target="/ppt/notesMasters/notesMaster1.xml" Id="R0587cb4e20994a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bf8da042684dee" /><Relationship Type="http://schemas.openxmlformats.org/officeDocument/2006/relationships/notesMaster" Target="/ppt/notesMasters/notesMaster1.xml" Id="Refba9be7dd804b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5ed5ec2dfa4a54" /><Relationship Type="http://schemas.openxmlformats.org/officeDocument/2006/relationships/notesMaster" Target="/ppt/notesMasters/notesMaster1.xml" Id="R156512ac47e543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675525d57e4978" /><Relationship Type="http://schemas.openxmlformats.org/officeDocument/2006/relationships/notesMaster" Target="/ppt/notesMasters/notesMaster1.xml" Id="Red46d0baecc246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0f7deb30df4b47" /><Relationship Type="http://schemas.openxmlformats.org/officeDocument/2006/relationships/notesMaster" Target="/ppt/notesMasters/notesMaster1.xml" Id="R8c4370fa6ce1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1489d4bad476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6aeaa5332a04dd5" /><Relationship Type="http://schemas.openxmlformats.org/officeDocument/2006/relationships/slideLayout" Target="/ppt/slideLayouts/slideLayout2.xml" Id="R2f8e1cf0624644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8e1cf0624644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51600ae3464860" /><Relationship Type="http://schemas.openxmlformats.org/officeDocument/2006/relationships/image" Target="/ppt/media/image.png" Id="R22cf5acf833e4e2a" /><Relationship Type="http://schemas.openxmlformats.org/officeDocument/2006/relationships/image" Target="/ppt/media/image.svg" Id="R98f989e71e64463e" /><Relationship Type="http://schemas.openxmlformats.org/officeDocument/2006/relationships/image" Target="/ppt/media/image2.png" Id="Rfc0a319ec8ee43ff" /><Relationship Type="http://schemas.openxmlformats.org/officeDocument/2006/relationships/image" Target="/ppt/media/image2.svg" Id="R1d46a6f176ba4e8e" /><Relationship Type="http://schemas.openxmlformats.org/officeDocument/2006/relationships/image" Target="/ppt/media/image3.png" Id="Rf4f6a0d0da974425" /><Relationship Type="http://schemas.openxmlformats.org/officeDocument/2006/relationships/image" Target="/ppt/media/image3.svg" Id="R3874afa8259949db" /><Relationship Type="http://schemas.openxmlformats.org/officeDocument/2006/relationships/notesSlide" Target="/ppt/notesSlides/notesSlide1.xml" Id="R3009e969903e43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80dbe7f8264639" /><Relationship Type="http://schemas.openxmlformats.org/officeDocument/2006/relationships/notesSlide" Target="/ppt/notesSlides/notesSlide2.xml" Id="R30f0e209de0e46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4ff290e2ab40ee" /><Relationship Type="http://schemas.openxmlformats.org/officeDocument/2006/relationships/notesSlide" Target="/ppt/notesSlides/notesSlide3.xml" Id="Rd6f145a3ff0243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7defdded244fef" /><Relationship Type="http://schemas.openxmlformats.org/officeDocument/2006/relationships/notesSlide" Target="/ppt/notesSlides/notesSlide4.xml" Id="Rb4b3a2be76384e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83a7989e44490f" /><Relationship Type="http://schemas.openxmlformats.org/officeDocument/2006/relationships/notesSlide" Target="/ppt/notesSlides/notesSlide5.xml" Id="R998239fb9b3747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6f65040d634f58" /><Relationship Type="http://schemas.openxmlformats.org/officeDocument/2006/relationships/notesSlide" Target="/ppt/notesSlides/notesSlide6.xml" Id="R7790ed74aeda46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d4dc0f04634212" /><Relationship Type="http://schemas.openxmlformats.org/officeDocument/2006/relationships/notesSlide" Target="/ppt/notesSlides/notesSlide7.xml" Id="Re1825d4113a041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2e76e3fc97426b" /><Relationship Type="http://schemas.openxmlformats.org/officeDocument/2006/relationships/image" Target="/ppt/media/image4.png" Id="Rb6f656ad256e43a9" /><Relationship Type="http://schemas.openxmlformats.org/officeDocument/2006/relationships/image" Target="/ppt/media/image4.svg" Id="R55b6f4abe6db4b8b" /><Relationship Type="http://schemas.openxmlformats.org/officeDocument/2006/relationships/image" Target="/ppt/media/image5.png" Id="R78705f05c6b54141" /><Relationship Type="http://schemas.openxmlformats.org/officeDocument/2006/relationships/image" Target="/ppt/media/image5.svg" Id="Rde79564635bc49ad" /><Relationship Type="http://schemas.openxmlformats.org/officeDocument/2006/relationships/image" Target="/ppt/media/image6.png" Id="R0ba1d495aa5e455f" /><Relationship Type="http://schemas.openxmlformats.org/officeDocument/2006/relationships/image" Target="/ppt/media/image6.svg" Id="R478946ab8dac4d83" /><Relationship Type="http://schemas.openxmlformats.org/officeDocument/2006/relationships/image" Target="/ppt/media/image7.png" Id="R82eb514322ac4691" /><Relationship Type="http://schemas.openxmlformats.org/officeDocument/2006/relationships/image" Target="/ppt/media/image7.svg" Id="R0d4319c9e8b646eb" /><Relationship Type="http://schemas.openxmlformats.org/officeDocument/2006/relationships/notesSlide" Target="/ppt/notesSlides/notesSlide8.xml" Id="R5fc2cc9b29c442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6429caae9548eb" /><Relationship Type="http://schemas.openxmlformats.org/officeDocument/2006/relationships/notesSlide" Target="/ppt/notesSlides/notesSlide9.xml" Id="R5deb362cafe047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82b86377a4839" /><Relationship Type="http://schemas.openxmlformats.org/officeDocument/2006/relationships/notesSlide" Target="/ppt/notesSlides/notesSlide10.xml" Id="Rff54d44d393b45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2956dbdf574db9" /><Relationship Type="http://schemas.openxmlformats.org/officeDocument/2006/relationships/notesSlide" Target="/ppt/notesSlides/notesSlide11.xml" Id="R2559c6032fdb46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19b21cec5b47b2" /><Relationship Type="http://schemas.openxmlformats.org/officeDocument/2006/relationships/notesSlide" Target="/ppt/notesSlides/notesSlide12.xml" Id="Ra10b78417fc44a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18d065350d4f9b" /><Relationship Type="http://schemas.openxmlformats.org/officeDocument/2006/relationships/notesSlide" Target="/ppt/notesSlides/notesSlide13.xml" Id="R26d433e5f12d4f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edeb3f11a545a0" /><Relationship Type="http://schemas.openxmlformats.org/officeDocument/2006/relationships/notesSlide" Target="/ppt/notesSlides/notesSlide14.xml" Id="R1efaec7c786f4b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23f07e2f5b421f" /><Relationship Type="http://schemas.openxmlformats.org/officeDocument/2006/relationships/notesSlide" Target="/ppt/notesSlides/notesSlide15.xml" Id="R1bb329057e684c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18b856206d4d7f" /><Relationship Type="http://schemas.openxmlformats.org/officeDocument/2006/relationships/notesSlide" Target="/ppt/notesSlides/notesSlide16.xml" Id="R5101f7e0ecba48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3608DA-C565-47BE-ABE3-8FDFBB30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A55E0-C459-43A0-8580-ED5E2AA4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AI-HARDWARE WORKBENCH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D2C99-6A1C-47BD-9BDF-C2FC4601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ED958-A75C-426E-A754-FCC267EC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666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AI-hardware</a:t>
            </a:r>
          </a:p>
          <a:p xmlns:a="http://schemas.openxmlformats.org/drawingml/2006/main">
            <a:pPr algn="l">
              <a:def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硬件工程师配置剖析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144FE-4F1E-4D5C-AEA9-AFC5A41B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666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这套环境不是从“聪明 agent”开始，而是从一个能被仿真反馈驱动的 RTL 工程开始。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8A791-B78F-4054-AEE9-62855072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1A3A6-F233-4925-A872-1BEE276F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4300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27F72-76A7-4226-BD2B-5D8661B8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57300"/>
            <a:ext cx="28765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硬件工程闭环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2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1 明确项目: RV32 CPU</a:t>
            </a:r>
          </a:p>
          <a:p xmlns:a="http://schemas.openxmlformats.org/drawingml/2006/main">
            <a:pPr algn="l">
              <a:defRPr sz="102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2 写 RTL: Verilog/SystemVerilog</a:t>
            </a:r>
          </a:p>
          <a:p xmlns:a="http://schemas.openxmlformats.org/drawingml/2006/main">
            <a:pPr algn="l">
              <a:defRPr sz="102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3 模块反馈: testbench</a:t>
            </a:r>
          </a:p>
          <a:p xmlns:a="http://schemas.openxmlformats.org/drawingml/2006/main">
            <a:pPr algn="l">
              <a:defRPr sz="102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4 整机反馈: Verilator + NEMU</a:t>
            </a:r>
          </a:p>
          <a:p xmlns:a="http://schemas.openxmlformats.org/drawingml/2006/main">
            <a:pPr algn="l">
              <a:defRPr sz="102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5 对比标准: DiffTest / trace / logs</a:t>
            </a:r>
          </a:p>
          <a:p xmlns:a="http://schemas.openxmlformats.org/drawingml/2006/main">
            <a:pPr algn="l">
              <a:defRPr sz="102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6 经验沉淀: memory + task-runs</a:t>
            </a:r>
          </a:p>
          <a:p xmlns:a="http://schemas.openxmlformats.org/drawingml/2006/main">
            <a:pPr algn="l">
              <a:defRPr sz="102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7 入口适配: 多 AI 统一进规则链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f5acf833e4e2a">
            <a:extLst>
              <a:ext uri="{96DAC541-7B7A-43D3-8B79-37D633B846F1}">
                <asvg:svgBlip xmlns:asvg="http://schemas.microsoft.com/office/drawing/2016/SVG/main" r:embed="R98f989e71e6446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52625" y="3333750"/>
            <a:ext cx="609600" cy="6096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a319ec8ee43ff">
            <a:extLst>
              <a:ext uri="{96DAC541-7B7A-43D3-8B79-37D633B846F1}">
                <asvg:svgBlip xmlns:asvg="http://schemas.microsoft.com/office/drawing/2016/SVG/main" r:embed="R1d46a6f176ba4e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43250" y="4000500"/>
            <a:ext cx="609600" cy="6096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6a0d0da974425">
            <a:extLst>
              <a:ext uri="{96DAC541-7B7A-43D3-8B79-37D633B846F1}">
                <asvg:svgBlip xmlns:asvg="http://schemas.microsoft.com/office/drawing/2016/SVG/main" r:embed="R3874afa8259949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33875" y="33337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EF140-E072-4089-B440-555E213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核心观点：agent 是被工程反馈训练出来的，不是靠一次性提示词变聪明。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3F71A-B97B-4AA3-9CF2-C21CD501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C55B3-1B94-441C-AF48-0E273940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35694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C31E7D-A096-46DA-9AA8-AF85C124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2CA8B-5412-45D4-BB4A-4EB4B79F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PROJECT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8634D-F465-494C-A9FB-18A7C6B5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DEB59-8CB7-448F-9F24-150DB7DA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先明确工程：我们要做的是一颗可验证的 RV32 CPU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1C15A-5109-4E53-836C-18268315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agent 的职责不是聊天，而是参与 RTL 开发闭环：写代码、跑仿真、拿反馈、定位根因、沉淀经验。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B36A1-1E2B-47DC-BF65-AEB3E156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52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572EF-5938-4F49-9FAC-8DC81627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2ECFE-82E3-4F00-8F26-7B7A98FC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明确项目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0211B-B809-4929-9B55-8D31A790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目标是 RV32 CPU，而不是“做一个 AI 系统”。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F77BF-4A9E-4970-97F3-5C337BCA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432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A98CA-2F70-49F1-A8E3-9610B6A8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66F46-1128-466A-B9B6-8FF5A720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00350"/>
            <a:ext cx="152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3FA4E-DB2D-4CAB-A6CE-2F7CD43E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00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DC289-2812-43FE-A8E5-BF653D7E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241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写 RTL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FEBE3-73C4-46B1-A299-5CF72702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3850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设计数据通路、控制、状态机和接口。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5668C-8A0E-4C3F-A970-7B0B286F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432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50980-E704-490D-9CE9-BE2589C0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06B42-A1F5-43A5-9036-F0FE5EC9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152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8EEFA-6FD5-42C9-9292-6FA4AEB1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664DE-0FBB-4F9E-91F5-F89E190A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241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构建仿真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9DED6-5E2C-4E14-8382-4C6EDB6D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Verilator/NEMU/AM 形成可运行目标。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19556-66AB-4607-9F09-7F96B710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432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E245F4-6526-45CF-A7BE-C7764C85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E2064-07AF-4D82-B5D6-61E06920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152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DA44C9-0667-4E4F-A258-88AABBFC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C31FAA-8E70-402F-A9B9-23953936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241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标准反馈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FEE49E-F783-4E1B-862D-C21DF648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testbench、GOOD TRAP、DiffTest、trace、日志。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4AF1E2-4C1B-4766-A232-770D3FEB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432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A80C2C-C83A-4D2F-99C6-E594F086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0B275B-F628-4108-BF34-7C6F4FA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152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5BC8FB-C633-4D53-BE83-5C3A849F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ED109B-D326-4400-BA01-EDFCE79D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241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定位修复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67D175-0A83-46FA-B259-60F2B498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从控制流/数据流找 root cause。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2B3A31-635F-492A-ADB4-33AE4479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432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22E94B-FDC9-4C5C-9B36-8B38C93C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57024E-16D0-489B-895A-33615557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00350"/>
            <a:ext cx="152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15E6BB-F93E-4B31-90DB-1BE7C6CF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00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834B5A-ED0C-46BD-B742-14A8D99B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241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沉淀经验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86E150-951D-4CE5-9E1D-D30017DE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稳定结论写 memory，过程写 task-runs。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1A980F-6ADD-48B4-ABEA-9EBAB6B4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D9E00B-F16F-4475-BE22-473D3294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这条闭环先跑起来，agent 才有可学习、可纠错、可复用的反馈。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E58C0E-2583-44ED-84F7-9ECD55F2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C71C6B-D970-468C-B656-B53FB9F7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59764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D1024C-7E86-4ED6-B8D2-C3C213CD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AA7BB-3E10-4160-8A7A-DD4D13CD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WORKBENCH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39D84-BFE5-415E-99E6-B4CBD6FF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6B9C0-E535-45A0-AB63-86C4DAC3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工作区本体：硬件工程闭环先于 agent 智能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95CC2-27E4-4203-9322-4687489E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AI 配置围绕这些真实模块展开；如果没有可运行链路，agent 只能停留在猜测。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F8759-E39A-4E20-B529-278568C6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010EB-C24F-48BC-BE5B-D2669A4A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RV32 CPU Workbench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72E73-2CB8-4DE4-A0A9-550A9EBA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242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RTL target + reference +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0F5B1-A390-4859-9404-D6B3BF86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86A8C-B9E5-4BC8-BD76-21853885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103E2-AFD2-4D6C-B289-856B66C6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050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am-kernels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BFE22-99C7-4469-9966-EA5AD337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测试/benchmark</a:t>
            </a:r>
          </a:p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生成工作负载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23CE4-DB43-41FD-AFF8-4A95E610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86DF8-4034-4DF1-A26E-459D7462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93BC3-8639-4D71-A1B6-D47EA259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95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abstract-machine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13E68-073F-49DF-BA6F-DEE0A73A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平台抽象</a:t>
            </a:r>
          </a:p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链接/镜像封装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6FA62-B26C-4624-99E5-B0840C42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002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7DE90-AE99-4A29-96BA-CCB1D5E4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002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56286-54B0-431A-B02C-A3279D33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240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nemu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9D343-4F91-4DCD-A773-1BDDE7B1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384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ISA reference</a:t>
            </a:r>
          </a:p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trace/watchpoint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E05DC5-FCA5-4D20-9A5A-B13681B0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45E0A-7B8F-47B0-9DD7-8CC00DD9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80FDA-7E5A-48CC-8AEB-E3D5CBB8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050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npc/sim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AB1F06-EB3A-42DD-BC9A-B8F46103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统一仿真入口</a:t>
            </a:r>
          </a:p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选择 single/soc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50604-5977-4C36-9A1D-7A199D5D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A6D0A-10CA-4537-BDBC-5DDEC5BE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0398BD-B2A8-4DC0-AB70-C96270C2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95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npc/single/soc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53D999-195A-439A-AF72-AF186249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339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Verilator target</a:t>
            </a:r>
          </a:p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RTL 行为反馈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27D361-6514-4E6F-AA50-CDDE891A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625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599CC3-3BCC-4793-A665-F890E98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625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7EEA75-A93B-4682-8F42-B4794073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8632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ysyxSoC + STA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543124-C48D-4D36-90C7-252F25B8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006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SoC/PPA 下游</a:t>
            </a:r>
          </a:p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不是首轮前置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3E39B0-2D0D-4F9E-A0C9-50005245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0C1CFD-7454-4DB5-99BB-6D30882B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09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492119-32AB-46B2-A477-46A57D61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243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679C8A-388F-42D9-9E6A-03A3462D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90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060883-09EB-426A-8607-FB28387E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E72C63-276F-4A9F-8546-A7F24E1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28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7348C5-A10A-4D62-8950-1C02B5F4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623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1FE3E4-AD6A-4720-9ED7-20A77D76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790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94C027-AA51-480A-83D3-6F73123F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243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1A0A2E-8AAF-4E9F-AE53-194AC983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86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73864B-4FA3-4987-9E2F-440BB5CA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00500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A93C2A-1C6D-454D-8593-C41D8112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733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D8C9EF-B5A6-4D64-85EB-0E941CCA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64E01B-C09F-4CED-BD21-FCCC90C6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AI 配置的对象是这个工程闭环；它服务于硬件验证，不替代硬件验证。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2726EE-053D-4BF4-BD5E-9970B36D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B98DCB-B730-4D13-A026-92B07CCC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5774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0798EF-2AA7-4A6E-BE77-20448DCD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32963-408C-447E-A77E-E5B387C6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SIMULATION STANDARD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342C4-1375-4FAA-BBFF-3C859ACD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7C396-6023-43D8-91F3-38507570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仿真是硬件工程师给 AI 的标准反馈信号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6E363-1933-4CBF-B7B2-219B6BCA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RTL 正确性不能靠语言说服，必须靠模块 testbench、整机运行、DiffTest、trace、日志和回归证据。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09776-1293-43B7-8C43-33E74D29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6381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D2DE8-1AF3-4BA6-9D33-301ED03E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61150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同一条 RTL 变更必须能产生客观反馈：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npc/single/testbench run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npc/sim lint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npc/sim run IMG=...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npc/sim difftest-ref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am-kernels/tests/cpu-tests \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ARCH=riscv32-npc ALL=add run \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NPC_RUN_ARGS="--diff=default --no-progress -m 0"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反馈对象：TB PASS/FAIL / GOOD TRAP / mismatch PC / commit / trace / wave /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D4346-8189-4B8B-AFE3-3028B05A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524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2E3F1-8D69-4000-8341-4A94F184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FB2E0-EB02-4300-AC3B-3EE6D033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86025"/>
            <a:ext cx="320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客观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C992E-4D40-4B3E-BD05-4BEB8355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3181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不是“看起来对”，而是命令结果可复核。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0D67D-A324-4514-94F0-4F907193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3524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2D7B3-C360-4B1C-BE56-00FEF7E7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F4140-A14A-44E4-A8CA-8C55D822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24225"/>
            <a:ext cx="320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可复现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EC9C9-D941-4A22-972D-946124B9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181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命令、参数、镜像、配置都能重跑。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3525F-3006-4E95-A55D-2B83FB3E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3524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CFC23-D545-4200-85A7-B6106EC3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E6141-7FF0-45F6-8E44-76345049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62425"/>
            <a:ext cx="320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可比较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44900-EFCC-446F-97DA-27985C75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181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NEMU reference 与 NPC target 可对齐。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91589-9378-42CE-8EE2-1F1F8797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76800"/>
            <a:ext cx="3524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66CE28-0A56-4934-B893-CE9AD540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768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C74CA-C8B5-4B6E-A1F7-2DA0E509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00625"/>
            <a:ext cx="320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可记录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E6C5F-929D-4B20-BD9A-B9E8BA89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14950"/>
            <a:ext cx="3181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结果进入 task-runs，稳定结论进入 memory。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259300-DD50-45DA-AB36-3AE91298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E8F22-DA54-449F-B209-E09A06BF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仿真就是 AI-hardware 工程师的“单元测试 + 老师批改 + 经验回写”。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A6ED6D-8AD8-4642-BECA-DA582D42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96FD5A-C68C-4A01-B80B-804DB15E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535833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2DA0E-7802-4DB6-8093-4A762280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2BA3F-19EB-4058-980F-2B39E198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MODULE TESTBENCH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B4F62-8492-4E5B-BA27-A6E3A800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AB306-DD44-472D-98CC-9667D19F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模块 testbench：AI 写 RTL 时的第一层局部验收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2E022-DD94-4709-802A-27890230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你现在的 agent 会在写模块时同步生成 testbench；对话和 memory 固化后，它会自动把模块验证作为默认动作。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F52C6-9CC5-48A7-AD3B-4744A163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09207-F732-4C40-89DC-8959106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29DD1-3BCA-4051-B07F-AC8A8618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1 写模块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D810D-DD0A-4A9C-8320-FF8A2537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agent 先按需求/协议/状态机/不变量生成 RTL。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F746E-99A9-4880-BAD5-E4972E4E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956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77B6C-820B-4927-A758-551A713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76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D807A-022C-4B55-BAA9-CF9A3C8B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527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F98B5-0511-4DEB-A8B8-772C8FEE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52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8F5C2-F740-4793-A787-30141652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2 写 testbench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29F00-8A3F-48FF-9F8C-44790277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908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同步覆盖握手、边界、复位、异常输入和关键时序。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078FD-2948-485A-B1B0-97DCC7B4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956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3DF69-45F0-4B1D-B4BB-86E39303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76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8EB1E-28B8-4E7F-BBB7-182E3D07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527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3E3B1-A9C7-4757-AF6B-A1EAD669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52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3CB30-9AB1-4824-BC72-71ADFF2D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7652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3 跑局部验证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3BA41-702A-45E1-9AC5-756CDC07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908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模块 TB 比整机回归更快，能先截住低层 bug。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BEE6D-46C6-4CE8-A4C3-134E0CA5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C9B1EC-A4C3-4BB9-A80D-5C9376D7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76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CE7F2F-E5D4-4783-BE1A-71E87AF0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527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077DC2-BDA6-4463-A726-F950AC9D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52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60F7C-6EC9-48C1-9133-7354302D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7652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4 失败即回环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B96F00-C0D9-404B-BF4B-B404D3B8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908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TB FAIL 进入 reproduce/collect/localize/fix/rerun。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D3AA2E-9A50-4F59-97B4-2CA02DA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956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8EE76-5C61-45C6-9747-66928C2A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076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828524-1D12-49A4-9C4D-97071B47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66393A-1004-4D50-B8FF-D7605882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5F1BCE-DFFF-4928-8A6B-C594374B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7652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5 写回记忆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6F6B31-2287-4D49-88B4-55680845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当规则稳定后，memory 让下次自动补 testbench。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A643F3-3693-4B34-AAE0-B958C6F8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38625"/>
            <a:ext cx="8763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E1ECE5-2263-442A-B428-165DCE10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52925"/>
            <a:ext cx="8496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模块级验证习惯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写 RTL 时同时问：</a:t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- 这个模块的输入协议是什么？</a:t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- 哪些状态/边界必须覆盖？</a:t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- 复位后第一个有效周期是什么？</a:t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- ready/valid 是否允许背靠背？</a:t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- 失败时 testbench 应打印什么上下文？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典型命令：make -C npc/single/testbench run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677BF7-864C-41D5-AF08-530CBBC5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87E719-066B-4A42-9920-A9C02AF3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testbench 是 agent 学会“写完就验证”的关键记忆；它把模块开发从生成代码推进到证明代码。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23F67B-B931-40E6-9CD7-F181F7C2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E4D45A-10D2-49B5-A34C-CB20CE38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21585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EE8905-9B65-4B7B-9EF0-946A0826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2A268-326B-4975-A912-B4737BDD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CONFIG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95BA6-BA62-4A96-9CB5-1CDB95A6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BD1EF-2E95-4413-8076-0556708E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五类配置分别承担不同职责：不是一堆提示词，而是一套工程系统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FB8D2-106A-4716-8940-FDB6D022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从岗位、规则、记忆、证据到入口适配，层层把 AI 约束进硬件开发流程。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4A87A-C553-4504-B945-F65F5086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942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D99A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DBC76-FCFA-447E-B817-A34EB2CA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230FB-1FF3-4838-B224-10310398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479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接入窗口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03AD0-9A8B-43B1-9280-B7DCC1B4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628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9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AGENTS.md / .github / CLAUDE.md / GEMINI.md / Cursor / Windsurf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07002-50D0-4584-9C1A-0F60BF2D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24175"/>
            <a:ext cx="882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C95D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40FBF-2694-4A25-8842-C4EBA667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24175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5A388-BB2D-4B3C-B9BB-CE8E30C5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384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task-runs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6EDB5-E4F1-43B3-87EB-CDE74322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57525"/>
            <a:ext cx="567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9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保存单次任务图、节点、证据、失败恢复和 handoff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91DAB-9443-41FF-AE23-60C32B0C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14725"/>
            <a:ext cx="821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6C8F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F496B-68B0-46CF-8F5F-F4AF90FF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14725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65A82-B0E6-414F-8E27-B9C3E80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290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194C3-1CC1-4E60-A9F7-99BB3D2E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48075"/>
            <a:ext cx="506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9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保存长期项目事实、已知问题、设计决策、模块经验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139D5-3512-4EC2-90A7-75AFE469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05275"/>
            <a:ext cx="7600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2B5C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E7A6D-8D7C-4EE0-8B6F-F1C3F8C2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05275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E6AED-72B8-417B-BA93-4FBBB88F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195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instructions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5E13BC-3FF4-40F3-A185-1F4D092D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38625"/>
            <a:ext cx="445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9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固定工程纪律：读链、RTL 推导、验证、记录、root cause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17B96-EE79-49FB-B6E4-88FC0C21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6991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2FE54-EBE4-45A1-A91B-F7E344DA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D95F0-9C20-41EE-9125-4E29F71E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101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agents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3F30D4-9C78-4254-9767-69D7FBD4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29175"/>
            <a:ext cx="384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9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定义岗位：coordinator / hardware-flow / npc / nemu / difftest / ysyx-soc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C6C43D-3955-49F0-9328-A489A8D0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86375"/>
            <a:ext cx="638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11430">
            <a:solidFill>
              <a:srgbClr val="1720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ED70E8-3485-4CD9-B93F-8FBE53B5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86375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9AA400-3DC6-4A67-B724-DE62E86A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006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硬件工程闭环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08106B-B0BA-430E-9AD9-3E790B9E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9725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9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RTL + module testbench + Verilator + NEMU + DiffTest + AM workload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A75365-1F16-43BC-A14C-2A0D10EE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138110-7096-4B09-B2E3-8F5D742C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这五层的目标不是“管理 AI”，而是把 AI 放进 RTL 仿真反馈闭环。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BBE501-F4C4-4915-9BDA-B71D968E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10B5D4-7294-49DD-A720-16CC12BA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31384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E64F0D-8490-4E40-A86F-D2E5A77D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2857B-D47C-4C72-AD33-058099D4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1.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9355C-FBF3-48F9-BE71-47402B79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8E97B-B6F4-4403-87DE-839C1808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agents：把 AI 拆成工程岗位，避免一个模型什么都管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DC96A-B4BD-4A24-9FC7-EC9E5E40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一开始 agent 不必很聪明；先让它知道自己负责哪段工程边界、该读什么、该产出什么。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7438E-D61A-4D4E-AFC7-4B4E9E06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2337F-2C28-49E1-8CFE-6A12995C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8A28D-817A-4E6A-8659-09470996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ysyx-coordinator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C073C-0179-44C8-8CA6-AC2BA1EF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2800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选图、拆节点、安排 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91D2B-5B33-420A-A1A2-8732E14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93879-0F38-4804-BE1F-A6F68DD7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3D183-18E0-4B7A-9F8D-96A6526C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05075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hardware-flow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938D1-93D7-43FE-8E21-3AE1841B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2800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串起 AM/NEMU/NPC/DiffTest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49A2B-8C9A-4561-BADC-1951B945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9CEE3-9287-4567-B4F0-C758FA1D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A8D59-3A1E-41A8-A687-FA56E4AD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05075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npc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8CA93-8BF1-4BD2-BD6F-D2619DB9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19400"/>
            <a:ext cx="2800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RTL、流水线、cache、AXI、Verilator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97A89A-0BE0-4600-ACF3-50EE2A7D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BB23C-475C-4CA0-B37C-64602307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3F953-E9E9-4878-9AB5-1F09C05F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nemu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A7E03-59BC-470F-B6C9-211D9C09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2800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reference、ISA、trace、watchpoint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DD82E-FCE5-43C6-8DF8-D6F15791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623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10EC1-E58A-40E0-8D80-27A665C3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623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F414E2-7ADD-4A28-B131-44F628D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862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difftest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919E28-DC94-447B-95EE-80CF225E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00525"/>
            <a:ext cx="2800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提交级 GPR/PC 对比与 mismatch 定位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03B738-C5FE-41CA-9338-B27A1988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623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28E304-E230-4998-88A4-11682A3D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623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B10EA5-90D1-449C-A934-810E77EA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ysyx-soc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7C58DC-821E-4CD7-9263-5530B007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00525"/>
            <a:ext cx="2800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SoC 地址图、CPU ABI、Chisel/mill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04D755-4191-47B4-8E8E-9BF22416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9F7412-8CB8-47EE-BAAD-685BD232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agent 的第一步智能是“知道自己不负责什么”，否则复杂硬件任务会失去边界。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880543-B30C-4A24-8A16-5A338140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55031C-B594-43BB-ACA8-A5DD58AF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7580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E5FAAE-1B33-47BB-A6C8-7D38AB61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5F45A-08B8-4328-91FF-FE7C8BE6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2. INSTRUCTIONS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60ECD-B8D9-4A91-9EC5-18498D95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35CBB-059A-4F3C-9BE7-C79BB957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instructions：把工程纪律变成 agent 的硬约束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16686-1DC5-4E13-A840-393B68DB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硬件开发最怕“能跑但不知道为什么”；instructions 负责把方法论固定下来。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88662-D8CE-4C3A-99E9-2F1BAC05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286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4E5A1-97AC-46BF-8594-ACDB8F30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8FCB0-78DD-490A-8A32-27235ED1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读链纪律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90546-EBD7-4254-AFEA-7BF0E4F1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62275"/>
            <a:ext cx="19431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先读 AGENTS、Copilot 补充、project-status、known-issues、相关 modules memory。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656ad256e43a9">
            <a:extLst>
              <a:ext uri="{96DAC541-7B7A-43D3-8B79-37D633B846F1}">
                <asvg:svgBlip xmlns:asvg="http://schemas.microsoft.com/office/drawing/2016/SVG/main" r:embed="R55b6f4abe6db4b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76400" y="4953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608A7-2906-4EAD-BFFC-248D3E3F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24125"/>
            <a:ext cx="2286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25ECB-15D2-4376-8645-99ABA59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24125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CC0D2-0EA3-4A37-9C68-9C2005E1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RTL 四段式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344B9-A622-45E5-AD02-2FDC03A2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62275"/>
            <a:ext cx="19431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需求 → 协议规则/状态机/不变量 → 数据通路约束 → RTL。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05f05c6b54141">
            <a:extLst>
              <a:ext uri="{96DAC541-7B7A-43D3-8B79-37D633B846F1}">
                <asvg:svgBlip xmlns:asvg="http://schemas.microsoft.com/office/drawing/2016/SVG/main" r:embed="Rde79564635bc49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57700" y="4953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EABFA-0FCD-4FE1-9768-8FE4E7F6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2286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1EAAA-2EE9-45BA-9AD7-464C974B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88FFD-C974-407D-BB2F-84CD8D83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root cause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FEF17-D5C3-4C72-86D7-1A52870F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62275"/>
            <a:ext cx="19431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修 bug 先定位职责层和数据/控制流，不围着报错点补特判。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1d495aa5e455f">
            <a:extLst>
              <a:ext uri="{96DAC541-7B7A-43D3-8B79-37D633B846F1}">
                <asvg:svgBlip xmlns:asvg="http://schemas.microsoft.com/office/drawing/2016/SVG/main" r:embed="R478946ab8dac4d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0" y="4953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5CACE-F82C-4EAB-97BE-F2F8C57B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24125"/>
            <a:ext cx="2286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94879F-0026-459A-A6CB-759775D2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24125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4A3855-BD60-4861-99AB-BE2D7D1D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479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验证与记录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5B7CC8-8BCE-4D4F-AC02-856C3548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62275"/>
            <a:ext cx="19431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实际改动后必须跑可复核命令；稳定结论写 memory，过程写 task-runs。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b514322ac4691">
            <a:extLst>
              <a:ext uri="{96DAC541-7B7A-43D3-8B79-37D633B846F1}">
                <asvg:svgBlip xmlns:asvg="http://schemas.microsoft.com/office/drawing/2016/SVG/main" r:embed="R0d4319c9e8b646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20300" y="4953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A439CB-C3F7-49B5-9C07-CD394492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684001-40DC-4CD9-A719-4FDA8012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instructions 是“工程纪律的编译器”：把经验从口头习惯变成 agent 必须执行的规则。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433311-7678-4941-A4A1-A1C9551C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152B15-87AB-4387-8E76-11D40478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836168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3D65BB-D331-4D24-A09C-26EE78A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CD70E-DB57-465F-A162-4E62B6B9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3.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F9571-703F-4F50-826F-0976D865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6F68F-AFAD-4567-AC88-C079C0D4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memory：让工作区记住长期事实，而不是依赖某次聊天上下文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D8758-077F-4B04-9A5E-65F6C0FA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项目状态、已知坑、设计决策、模块经验都要回写到仓库，下一次 agent 才能继续成长。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B8C96-1121-43E6-92F2-9839CC4E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2EF77-3E7C-42C4-BC9D-C02EC85D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43053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.github/memory/</a:t>
            </a:r>
          </a:p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├─ project-status.md</a:t>
            </a:r>
          </a:p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│  当前阶段、最近完成、验证证据</a:t>
            </a:r>
          </a:p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├─ known-issues.md</a:t>
            </a:r>
          </a:p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│  活跃问题、根因、临时恢复、教训</a:t>
            </a:r>
          </a:p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├─ decisions.md</a:t>
            </a:r>
          </a:p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│  长期设计决策与取舍</a:t>
            </a:r>
          </a:p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└─ modules/*.md</a:t>
            </a:r>
          </a:p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 npc / nemu / ysyx-soc / agent-system 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0E74A-08C6-47F1-8EA9-B04D2AB8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B7B51-153C-4737-A1BD-564598B9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E0A3D-FEAC-4888-ADC7-9CD1B85B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15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项目状态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A2345-183D-4DD7-B843-4EFAC607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71775"/>
            <a:ext cx="413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“流水线 CPU + DiffTest 已通过，PPA 未完全闭合”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2DF54-1399-460D-9C3F-EF78118F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14675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67044-CC45-47D5-A60F-5131EA0C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14675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89D59-88DC-426B-ADFE-C657ECAD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15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已知坑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523E2D-C8B9-423F-A7C5-6BBC9A46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52825"/>
            <a:ext cx="413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“配置切换可能跑旧二进制”这类工程事故不能靠记忆力。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44CE2-2BBC-494C-8ADC-F078B16E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5725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0A5D0-167E-4ED6-874C-3DE8BA52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5725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57ADF-7310-44C2-B301-A58AD67A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415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模块经验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457BF-49E9-4505-B15D-118576D6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413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“npc/sim 才是外部稳定入口；不要硬编码 npc/single”。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1BDED-7B48-4BB3-82A8-5A95227F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76775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12BE4F-1F38-4906-8E9B-F42BE999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76775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6B915-B717-4B2E-93ED-7EFD8E64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00600"/>
            <a:ext cx="415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环境事实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97187-D6B9-4767-8916-8A48F0A6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14925"/>
            <a:ext cx="413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JDK21/mill/yosys-sta 等工具链状态写成可追踪事实。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F19049-BE55-4438-8AD8-F5806DF3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E766DB-E8BF-40B0-9E71-271BDAED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memory 让 agent 从“每次新手”变成“读过项目史的工程师”。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32D31-58B4-4C14-91A5-BBB5A20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E62293-A101-40DD-91BE-DB8FDB0D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986486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BFB092-5083-4D6B-91DA-050D7047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47001-D84D-43DA-AB45-DEAD4C9B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4. TASK-RUNS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154B9-3263-480D-B97F-12DC0FBD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F31D5-F3F8-4E8D-AA29-BFF53214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task-runs：保存单次任务证据链，让调试过程可追溯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C4452-353B-4B0F-8B81-B4100372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memory 放稳定结论；task-runs 放这一次怎么复现、怎么定位、怎么验证。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3D25F-A086-4EAC-A7BD-40367D4D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E2C50-BCD2-4DBB-B0F2-AE0653DC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E9CDD-6328-4E19-BAEB-0EF8F422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80598-21BE-47D1-9175-342F8372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读规则/记忆/相关模块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7F5A8-E052-4605-ADF5-F42151F7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194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0364E-AE4E-4628-8FA3-4E0F11AF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00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EBB0B-63AC-4540-9F57-65320A2C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4C482-5987-4907-A5C4-9A35CEEB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F9917-7704-4FF3-8FE5-34B15981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032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196AA-F9E6-4BEA-87FE-9191A77B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14650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选静态图或补动态图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D964E-0137-4BB6-B231-2ADA368F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194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AA9DA-0E60-4E64-AD53-407E29AD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00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C0F81-1E17-4ED7-8642-08C4E050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E840A-DDD0-40AE-995F-380F6707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F0BB3-E847-428D-AA16-A9FA9A08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032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DISPATCH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6ACAA-692F-455F-88D3-4271ADED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14650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执行节点并交付产物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808EEB-E54C-46EC-A558-33C1029D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194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64B1F8-4062-4BAE-BC59-2CA02052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00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C5E04-89D5-452F-B797-65698DD0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7C4A6-3E17-4880-999B-B2E5B5DA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1C26EE-5927-430C-850C-9847FE99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032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VERIFY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4E7D52-B207-4DD0-B0CC-B93E225A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testbench/构建/仿真/DiffTest/日志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990F76-005A-4BA6-AD89-766C7392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194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660691-BCF6-407F-BE8B-B5FA1087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00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1C3519-323F-48D7-A5BD-EAE3CCBA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2B37B2-EB5C-44E9-B801-66B2BB2F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A5C62B-398A-4A7D-9C0A-86795FD0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032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ADAPT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DC2EA9-3596-429B-A2EB-5F157C95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失败后定位边界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434081-257A-4516-8110-4EB591B6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194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993916-AE49-4A26-BB8B-42D8B7FB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000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628A66-F0C2-472A-BEDA-2CB17654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765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830FF-F44F-4C6D-AE16-62D73D4D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76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905679-F590-4332-BE6E-CA393D43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0032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RECORD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68CF89-6022-4D08-86B2-A3D79680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14650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更新 task-runs + memory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E14A33-CFED-412A-9799-DCA39DE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6250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D446B8-D433-42CD-8C2B-A7D82E2B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876800"/>
            <a:ext cx="782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.github/task-runs/YYYY-MM-DD-task/</a:t>
            </a:r>
          </a:p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├─ task-report.md      # 目标、选图、节点、产物、风险</a:t>
            </a:r>
          </a:p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└─ dispatch-log.md     # 每个节点的输入、输出、证据、handoff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BCE404-06DD-43EC-B504-9F3E5ED4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B5E605-6185-4D4D-8BC3-0EB54394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task-runs 是硬件调试的“实验记录本”，尤其适合长链路 RTL 问题。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5FA09A-956F-4021-A9F7-97D6DF65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13033B-7E1A-40AB-8771-8294A4AF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92382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B0C417-A05B-48A9-BAEB-D08AE542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52F42-16FE-417A-BDF9-6558E691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5. ENTRY WINDOWS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62700-F86D-43C2-B650-5514B896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EEB36-4E8D-472A-96D8-8B75DC5B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接入窗口：让不同 AI 都进入同一套工程规则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8CD1C-84F6-4988-AEB0-A49C523C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Copilot、Codex、Claude、Gemini、Cursor、Windsurf 的入口不同，但最终都应该回到统一规范。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ED6C3-DF76-4924-A8ED-CE668D56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0F395-8DCF-4FE8-8E70-F9C41D50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38543-B4C9-4208-A3BC-83595913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05075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Copilot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E01C0-7E6A-4C60-82CE-9F51727E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.github/copilot-instructions.md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7ABF5-A1EA-44D8-9F32-CA7BFF84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65696-FF5E-40DF-84DB-FA423DA8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06958-CD91-4538-B4F3-270C3FA9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957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DD138-262E-4533-8AC8-4DAEA781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0025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AGENTS.md / skills / local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4A622-54D1-4B06-964C-0E6C847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99494-5196-4BAE-B545-6BA9B97B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1AB63-047F-428D-9ECD-1C36F700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86325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Claude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F7D30-6B40-4773-B534-F369FE46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CLAUDE.md shim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D2F0A-442F-43F0-A23B-90FA72D3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14D00-4440-4B23-A5A0-12E5BC0D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F95D1-50EF-4E28-9BF7-C5654F2D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05075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Gemini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31374-73F3-421B-A1DF-587E67A0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1940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GEMINI.md shim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55496-5D3A-480D-926C-3030F0F3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01946-345C-4616-9682-77C1639D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2503D-6597-4ABC-926F-E38F89ED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957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Cursor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22B186-9307-4985-82B4-CE7B5AA6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10025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.cursor/rules/agents.mdc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F8E33-F95E-4A9E-9F46-8B36E276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427CE-D333-4D23-AA56-4DDD42C9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170A93-3A06-4C3E-B102-1A44A039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86325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Windsurf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1715E2-C4BC-40C5-8675-81EEC670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0065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.windsurfrules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2A559F-F027-434B-A2F2-30B218C6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19050">
            <a:solidFill>
              <a:srgbClr val="D99A2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9AC52A-4459-4C98-A1BF-9D21FD4B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.github/AGENTS.md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B3BC4D-75BB-4020-8392-7655B1E1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统一工程基线</a:t>
            </a:r>
          </a:p>
          <a:p xmlns:a="http://schemas.openxmlformats.org/drawingml/2006/main">
            <a:pPr algn="ctr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再叠加 instructions / agents / memory / task-runs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EBA3EE-E7CF-4E64-AC34-D5AD0C36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19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348BAD-7928-4BF9-866E-21514B8E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781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50C8E8-6BD9-46C4-A56C-45429E7A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FD4C51-5186-4F19-8BC5-05D8FB97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781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C57F2B-4C52-4E70-A102-1C853405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100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0D7E66-F881-45C4-92CC-9C84065A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781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8E2867-A555-4158-99DD-CC1D9928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19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49360E-7B1D-4DE4-BE5E-8EDA439A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81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327A91-B52F-496E-BE31-C130B285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FC24C4-60B3-4758-8A87-7EE8359D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81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994CC3-52FE-4299-A2C9-A64A2AB9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00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F52284-297F-4E6C-9415-FBC09672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81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BA2FE5-F269-44D8-B0B7-FE044F25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BDBB9E-6249-43A2-ACC3-243FB5AF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入口文件是适配层，不是多套规则；多入口必须回链同一个工程事实源。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A03668-CAA3-4D17-9260-33596116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F41B13-432F-40FC-9D90-5C8A3392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80968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0BED76-68D7-4AB6-AD6C-EA69B01C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D8F20-6356-4CD2-98AE-F502CF75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GRAPH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96E89-05FD-4BD0-A3B9-B9E361D4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CF3E7-0816-43C1-83BE-652228AB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图任务：把复杂 RTL 调试拆成有依赖、有证据的节点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3685F-A454-4CD6-8933-DBE3D24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硬件问题常常跨 AM/NEMU/NPC/SoC；图任务让 agent 先组织工程路径，再动手。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8A9C2-ADB6-4289-B60F-8041C274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EB720-8E70-40B9-B350-FFB91C4E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5908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节点契约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node_id:</a:t>
            </a:r>
          </a:p>
          <a:p xmlns:a="http://schemas.openxmlformats.org/drawingml/2006/main">
            <a:pPr algn="l">
              <a:defRPr sz="108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goal:</a:t>
            </a:r>
          </a:p>
          <a:p xmlns:a="http://schemas.openxmlformats.org/drawingml/2006/main">
            <a:pPr algn="l">
              <a:defRPr sz="108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owner_agent:</a:t>
            </a:r>
          </a:p>
          <a:p xmlns:a="http://schemas.openxmlformats.org/drawingml/2006/main">
            <a:pPr algn="l">
              <a:defRPr sz="108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depends_on:</a:t>
            </a:r>
          </a:p>
          <a:p xmlns:a="http://schemas.openxmlformats.org/drawingml/2006/main">
            <a:pPr algn="l">
              <a:defRPr sz="108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inputs:</a:t>
            </a:r>
          </a:p>
          <a:p xmlns:a="http://schemas.openxmlformats.org/drawingml/2006/main">
            <a:pPr algn="l">
              <a:defRPr sz="108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outputs:</a:t>
            </a:r>
          </a:p>
          <a:p xmlns:a="http://schemas.openxmlformats.org/drawingml/2006/main">
            <a:pPr algn="l">
              <a:defRPr sz="108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success_criteria:</a:t>
            </a:r>
          </a:p>
          <a:p xmlns:a="http://schemas.openxmlformats.org/drawingml/2006/main">
            <a:pPr algn="l">
              <a:defRPr sz="108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fallback:</a:t>
            </a:r>
          </a:p>
          <a:p xmlns:a="http://schemas.openxmlformats.org/drawingml/2006/main">
            <a:pPr algn="l">
              <a:defRPr sz="108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evidence: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66E74-B9A4-4040-8C9F-5BD47C64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BE9DB-F1FF-4AA2-9E12-627C4AF6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47925"/>
            <a:ext cx="2781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静态图模板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C1AC0-8A19-4B4E-9A68-F7961C6D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2D746-69E0-4B87-97F8-928A1164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47925"/>
            <a:ext cx="3924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解决什么工程问题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38E2F-D97F-4CAF-85D7-0793F265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432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254C4-DE3D-4A6C-9D1E-EEA5FA45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09875"/>
            <a:ext cx="2781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rv32-reference-loop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58AE8-4393-42F2-B6F0-93300B86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3FBCD-3EC6-4E84-9725-29BD8BF8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09875"/>
            <a:ext cx="3924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AM 镜像 → NEMU reference →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1D4C2-D7AC-4FD5-A22D-1D3C97D2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688DC-0097-48F3-A188-E76B6D13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24225"/>
            <a:ext cx="2781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rv32-bringup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3511B-BA3F-4E50-B284-9F2D1F24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F11B1-2FEC-43E7-B4EA-DDB0879E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24225"/>
            <a:ext cx="3924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AM 镜像 → NEMU → NPC/Verilator → compare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1A1EE-F066-4B38-999E-8C213B33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719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CD3C4-6166-42DA-8BA1-28C32AC7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38575"/>
            <a:ext cx="2781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npc-sim-regression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30FBD-7D98-4C1D-AE6D-B48F78B7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A8F7D6-8F64-4D06-9803-2809A8DA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838575"/>
            <a:ext cx="3924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backend-select → npc-run → optional difftest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AE17E-C65F-4F82-ADC0-4591386B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B4A49-6021-4607-8224-3A5C4A7B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352925"/>
            <a:ext cx="2781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soc-difftest-loop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891BEB-68BE-4FBF-9C48-E76BD7CF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359E1B-C525-4ACE-9670-5A55EF59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352925"/>
            <a:ext cx="3924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ysyxSoC + npc/soc + NEMU SOC_SIM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1D26BD-A10B-445D-9D11-A3877B47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006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5F4E04-6ED6-4358-8DB8-603DF4D4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67275"/>
            <a:ext cx="2781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regression-debug-loop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54DD9D-5539-4F1B-8787-846E8D60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006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00C010-215D-4B8A-8015-9A71E604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867275"/>
            <a:ext cx="3924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reproduce → collect → localize → fix → rerun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0E1747-83C6-4281-B379-A01E0767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4F5CAF-9A11-4A9D-BF2B-F3D3EACB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图任务让 agent 先有“工程路线图”，再有“代码动作”。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06B2F-2015-4E94-919F-7261CB60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06C16B-0148-4B9D-B0DA-21A8A6E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95820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FE348A-03F4-4AE1-B5E2-01A940E8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F9237-1B16-420B-A717-D96C1812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DEVELOPMENT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54461-B70C-4D74-99CA-7EA0BB0C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B0B11-938B-4CCE-978D-E739F59C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一轮真实开发任务如何流动：从 RTL 改动到仿真反馈再到记忆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0FCCD-7533-4747-A225-BE44D400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这就是 agent 从“不聪明”变得有工程经验的过程：每轮都被验证和记录纠正。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52E6C-61F6-4187-9AF8-DF210D03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000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D7E0C-269D-488C-B96D-973436D2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F4D5D-45CE-48CD-9970-126F034A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2676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E75F8-D9F1-4807-A3D1-A9B8E21B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6574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例如：cache 命中路径要可流水化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57166-4C6D-48B0-AA2F-E7AEAC40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289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21020-BEFD-4185-A193-96ABB976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09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C9053-9DAB-4AC2-AFB5-8546330A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000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38448-8C56-4FFE-9AC6-4FE0F73B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95788-74A3-4238-9140-AC0F25AA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05075"/>
            <a:ext cx="2676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081D8-2A2E-4580-B218-04362F05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26574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读设计笔记、接口协议、状态机不变量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64455-64CF-4238-9FB4-5C49E154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289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6A799-2989-419E-9161-F6EE9190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09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1F034-06DD-4E3C-8904-D5B74ED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000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F14E5-9075-4231-8A1B-D49D9446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B54B1-631D-4179-9D0C-17C14F0E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05075"/>
            <a:ext cx="2676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RTL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27BA40-22F6-4DC3-A482-2A786AFE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26574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修改 ICache/DCache/IfStage/MemoryStage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D648E-A284-4E59-8D97-22BB4567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000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32001-EC8B-481D-9683-739EA558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D76FE-B315-415D-A52E-C260EBAE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2676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模块验证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BB334-F722-4DCC-88A3-4FC10139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6574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先跑 module testbench，锁住局部协议和边界。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9F2A1-99E1-44B1-B846-0A17FDDD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529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2183E0-BE1D-4C33-B523-35678B94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333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96A2D2-DDFE-47A5-95D1-C76073D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3000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A57D20-E6D2-4022-B5FC-BD7A86DC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E3F027-5100-44B9-B0D4-9B8BCB1D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29075"/>
            <a:ext cx="2676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反馈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1A16BC-6F4A-413F-A9FE-39A798FB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3400"/>
            <a:ext cx="26574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GOOD TRAP、CPI、miss/writeback、失败日志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A8907A-1D4E-4244-9FB0-3E9CA8D3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529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6AE0B5-F244-4CCE-A1D1-65F65E68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333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CDD01B-E383-4197-805F-97B7BA51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3000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5C242C-C46F-4C28-B7CC-4D3B6088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29AB20-400F-4DD4-85EF-373DE424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29075"/>
            <a:ext cx="2676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记忆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467B5C-3140-4952-B2E0-C404D6DD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26574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project-status + npc memory + task-run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C168E9-6FE0-43D9-8F74-EE4BC7A2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1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742403-9ED9-42F0-99F5-82957C72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C7F7B2-1092-4DD1-97A5-B998E23C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6C1B54-CD9B-4B86-9920-ECC01F61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每一轮任务都用仿真纠偏；每一次记录都让下一轮 agent 少走弯路。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DE3F9F-46CD-4E79-AB12-976B987E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761D50-5695-4889-B6D8-F3D278B2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9490192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6320CA-94E8-4110-8C7B-8B76E831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6E581-D9B5-400C-881E-C0433ACB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BRING-UP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833E0-8609-4B7C-A3EE-4BD5DE9C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CDFBF-5B96-4514-88C1-17BE02CC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复刻环境时的建设顺序：先闭合反馈，再扩展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D13BC-82B1-4C04-AB23-D8559743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不要先堆 agent 文件；先让仿真链路能给 agent 提供可靠反馈。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95935-49B4-4E69-8F59-BE3E9C57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6477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1DDFD-4156-479E-A1E0-A28B0D7E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62103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复刻/新建环境的建议顺序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1  明确项目：RV32 CPU + RTL 仿真闭环</a:t>
            </a:r>
          </a:p>
          <a:p xmlns:a="http://schemas.openxmlformats.org/drawingml/2006/main">
            <a:pPr algn="l">
              <a:defRPr sz="106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2  配好工具链：make / verilator / riscv gcc / JDK21 / mill</a:t>
            </a:r>
          </a:p>
          <a:p xmlns:a="http://schemas.openxmlformats.org/drawingml/2006/main">
            <a:pPr algn="l">
              <a:defRPr sz="106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3  跑通模块 testbench：写模块时先有局部反馈</a:t>
            </a:r>
          </a:p>
          <a:p xmlns:a="http://schemas.openxmlformats.org/drawingml/2006/main">
            <a:pPr algn="l">
              <a:defRPr sz="106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4  跑通 reference：am-kernels -&gt; AM -&gt; NEMU</a:t>
            </a:r>
          </a:p>
          <a:p xmlns:a="http://schemas.openxmlformats.org/drawingml/2006/main">
            <a:pPr algn="l">
              <a:defRPr sz="106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5  跑通 target：am-kernels -&gt; AM -&gt; npc/sim -&gt; NPC</a:t>
            </a:r>
          </a:p>
          <a:p xmlns:a="http://schemas.openxmlformats.org/drawingml/2006/main">
            <a:pPr algn="l">
              <a:defRPr sz="106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6  打开比较：DiffTest / trace / logs</a:t>
            </a:r>
          </a:p>
          <a:p xmlns:a="http://schemas.openxmlformats.org/drawingml/2006/main">
            <a:pPr algn="l">
              <a:defRPr sz="106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7  接入 agent：agents + instructions + memory + task-runs</a:t>
            </a:r>
          </a:p>
          <a:p xmlns:a="http://schemas.openxmlformats.org/drawingml/2006/main">
            <a:pPr algn="l">
              <a:defRPr sz="106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8  适配入口：Copilot / Codex / Claude / Gemini / Cursor / Windsurf</a:t>
            </a:r>
          </a:p>
          <a:p xmlns:a="http://schemas.openxmlformats.org/drawingml/2006/main">
            <a:pPr algn="l">
              <a:defRPr sz="106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9  扩展下游：ysyxSoC / PPA / 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C23B0-9571-48CD-969A-72FE3C77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2952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DC4E1-B937-4721-9353-2708E319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FFF8A-E0D3-4F4A-BA47-781AD10B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95575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先反馈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9C430-DE6B-40ED-B9C2-91DF5865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09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没有仿真反馈，agent 没有学习信号。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0229C-50A8-48C4-9C9D-D67DCB08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38550"/>
            <a:ext cx="2952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6C2E4-30F5-4512-A4BB-A1D3DD0D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38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A6817-6EE0-4157-8E3B-9C3B7C3F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62375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再分工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EA25D-1453-407C-B92F-7599185C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767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有了工程闭环，再把角色拆给 agents。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54D71-F7CD-4D6B-89AD-55AC0D5A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05350"/>
            <a:ext cx="2952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2D868-3960-4634-AF0D-018F8DA7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053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D0623-EB4C-45C7-8D71-5069D2B0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29175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后沉淀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34F67-F8E9-4457-9594-B31422A2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435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4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让每次任务结果回流到 memory/task-runs。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AAF26-A1D1-43F0-97AC-7439C3EB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1B4A8-93B0-4A16-B955-5022F952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建设顺序反了，AI 系统会看起来很复杂，但不会真正帮你开发硬件。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E24FE-A93B-42BA-BE45-72B65CE3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6FE24-BCA8-4AAE-A1C1-AC66AE5D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231529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6B3B5B-19A7-45FB-9EDC-63F04FE5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B469B-7855-42D0-A661-AC0F6A1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ANTI-PATTERNS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C144D-557A-4E3A-BBE4-AD611DB2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37390-11BD-4070-8622-AE6124E1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反模式：这些做法会让 AI-hardware 工程退回“提示词玩具”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5938C-617A-482A-9CD0-D6FCE84A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所有配置都要服务于 RTL 开发闭环；偏离仿真证据，就会变成不可维护的聊天系统。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32AD2-7FFD-4883-A95E-2436C8C7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A0F1C-587C-4AA3-88E9-82712519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00300"/>
            <a:ext cx="1924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反模式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ACDF4-3CC6-4474-8E09-B1159C6F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7D638-6B0E-45ED-A17A-0F8FEE51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00300"/>
            <a:ext cx="4781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后果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6ACA5-94DA-41EE-BF4B-B7CF5355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33625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41B86-EF43-460B-B9B5-128E92C3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00300"/>
            <a:ext cx="3067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修正方式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C867F-6F5A-4282-A9D0-52E6B2B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06934-2638-4442-B433-7AD51439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00350"/>
            <a:ext cx="1924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C95D4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C95D45"/>
                </a:solidFill>
                <a:latin typeface="Microsoft YaHei UI"/>
                <a:ea typeface="Microsoft YaHei UI"/>
                <a:cs typeface="Microsoft YaHei UI"/>
              </a:rPr>
              <a:t>只堆提示词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3E9B3-EE0C-4486-B33B-F8B07B0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33675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E731A-4C5D-4E1F-AF32-DAEB8BEF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00350"/>
            <a:ext cx="4781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agent 会复述规则，但不会围绕仿真证据行动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E5D89-CD0D-45B7-800D-37AA60D4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33675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0CAF9-B84C-43FA-AC90-01EC7250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00350"/>
            <a:ext cx="3067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rPr>
              <a:t>先建反馈闭环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96329-5B2C-4A17-93E2-46375194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99601-6DA5-430B-9F0B-80CD7406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52800"/>
            <a:ext cx="1924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C95D4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C95D45"/>
                </a:solidFill>
                <a:latin typeface="Microsoft YaHei UI"/>
                <a:ea typeface="Microsoft YaHei UI"/>
                <a:cs typeface="Microsoft YaHei UI"/>
              </a:rPr>
              <a:t>多入口漂移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B16893-4CD2-426F-8430-7EE9588F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86125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CBE4C-EE05-48C0-B9C1-06D389AF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52800"/>
            <a:ext cx="4781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Copilot/Codex/Claude 读到不同规则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52D1B-6762-4323-866C-0948911F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D0921-B6D7-4584-ACCE-967D54F5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52800"/>
            <a:ext cx="3067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rPr>
              <a:t>入口 shim 统一回链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EBC24-40F3-4697-8466-E1DEA47D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A50D8A-78CD-4202-9E3D-AF8F90E2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05250"/>
            <a:ext cx="1924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C95D4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C95D45"/>
                </a:solidFill>
                <a:latin typeface="Microsoft YaHei UI"/>
                <a:ea typeface="Microsoft YaHei UI"/>
                <a:cs typeface="Microsoft YaHei UI"/>
              </a:rPr>
              <a:t>memory 当日志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C990E-BDB4-4DBD-842A-2E1EC327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38575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04B47-7BBA-4F56-B2DA-052DC4C1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905250"/>
            <a:ext cx="4781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长期知识被流水账污染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F8865E-A12E-449C-B068-E21E7059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38575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4222BC-5D0A-46F6-88DE-703E0022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905250"/>
            <a:ext cx="3067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rPr>
              <a:t>稳定结论和单次证据分层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0E3B83-0A98-470B-A4AE-CACCB220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435159-FA90-44BF-8209-5B8FD494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57700"/>
            <a:ext cx="1924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C95D4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C95D45"/>
                </a:solidFill>
                <a:latin typeface="Microsoft YaHei UI"/>
                <a:ea typeface="Microsoft YaHei UI"/>
                <a:cs typeface="Microsoft YaHei UI"/>
              </a:rPr>
              <a:t>跳过 root cause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E201BB-01F4-453B-93A3-0AFD042F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91025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F3128D-9DEC-497D-905C-50F4A448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457700"/>
            <a:ext cx="4781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RTL bug 被局部特判越缝越乱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3C9EFF-48CA-414A-8805-C54FB0AE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91025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F3DF8A-176F-45DC-8901-946C069C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457700"/>
            <a:ext cx="3067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rPr>
              <a:t>按职责层和数据流定位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A14679-E2CE-4C7C-B246-30FA360E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63F2D2-F39E-4CB5-AC75-4137DBAD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10150"/>
            <a:ext cx="1924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C95D4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C95D45"/>
                </a:solidFill>
                <a:latin typeface="Microsoft YaHei UI"/>
                <a:ea typeface="Microsoft YaHei UI"/>
                <a:cs typeface="Microsoft YaHei UI"/>
              </a:rPr>
              <a:t>没有验收 gate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2299B9-A60A-4E6C-9771-4421C7AD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43475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B437BD-C43E-41D1-80CD-198C69B3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10150"/>
            <a:ext cx="4781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环境“装好了”但跑不了硬件闭环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2BF5CB-25FF-4726-8071-0CE22A04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43475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208264-EA97-4344-9F1B-A74EEA28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10150"/>
            <a:ext cx="3067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rPr>
              <a:t>定义 discovery/build/run/record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318DFF-5787-4654-8EB5-3F195F27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00473D-501D-438B-B343-C93F4026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906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判断一套 AI 配置是否成熟：看它能否帮助你更可靠地写 RTL、跑仿真、解释失败。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C2BE37-BE09-4D88-955E-B85BEA34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FB53BF-D8FB-46A2-9B94-E152248A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41133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2B35D-0CC1-4755-8F06-2E17A6D6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3CEB0-93A2-4E16-B939-7A34BB94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ACCEPTANCE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DDFA0-858F-4670-BD63-4AE3E714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AB4EC-6A8E-4A19-96F2-1A3DFBE8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最终验收：一个新 AI 进入工作区后，能像硬件工程师一样工作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CEC9E-D282-4952-BE02-CCE6F747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15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它不需要一开始无所不知，但必须会读取规则、选择闭环、跑仿真、解释反馈、沉淀经验。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CB20A-2932-498E-9AFD-21F77CE3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60D18-E1BD-4549-984A-2DB3781C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2C7B6-15F5-4FAE-9487-C3B60F9B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能发现统一读链和相关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0B26A-D63B-4C16-801C-5EBFB638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671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C7DD1-8AD3-4D66-9DBF-DA683915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48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803FA-6AF3-45F4-BFEA-387940E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19050">
            <a:solidFill>
              <a:srgbClr val="2B5C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E71D1-53E3-4738-AA45-057C2D3B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5C8A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B5C8A"/>
                </a:solidFill>
                <a:latin typeface="Consolas"/>
                <a:ea typeface="Consolas"/>
                <a:cs typeface="Consolas"/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16121-B680-4EE5-857B-D403BA68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242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能选择硬件调试图而不是随便列 TODO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98465-E85D-42C8-AF9F-BCE1F5C3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671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873ED-2EDC-41C0-8A18-631A3F67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48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B65C8-FAA8-4865-90AB-A65A48F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6700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19050">
            <a:solidFill>
              <a:srgbClr val="D99A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E377C-4319-41CA-8693-ECC75497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9A29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D99A29"/>
                </a:solidFill>
                <a:latin typeface="Consolas"/>
                <a:ea typeface="Consolas"/>
                <a:cs typeface="Consolas"/>
              </a:rPr>
              <a:t>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8897F-5603-486B-80C2-46861C50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242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能为模块生成并运行 testbench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0B7A1-FF4F-48D0-8836-94E80259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671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ED419-D050-4D64-A9C7-5DCABFD5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48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2FEA7-0EB6-4748-86D5-CD876498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19050">
            <a:solidFill>
              <a:srgbClr val="C95D4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DA9F4-331B-4931-AE64-076DABF8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03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5D45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C95D45"/>
                </a:solidFill>
                <a:latin typeface="Consolas"/>
                <a:ea typeface="Consolas"/>
                <a:cs typeface="Consolas"/>
              </a:rPr>
              <a:t>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CC04F-4109-426A-88E3-ADBEF2B9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242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能跑 NEMU/NPC 并解释 DiffTest/trace/log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5B1FED-EA93-4530-A39A-A70BCC8A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671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90599C-B910-46BA-9274-16EABF51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48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1D2FC7-C837-451A-B255-CFF68D4E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19050">
            <a:solidFill>
              <a:srgbClr val="6C8F7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1D003-A804-4708-B04F-FFA069FE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C8F73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6C8F73"/>
                </a:solidFill>
                <a:latin typeface="Consolas"/>
                <a:ea typeface="Consolas"/>
                <a:cs typeface="Consolas"/>
              </a:rPr>
              <a:t>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A265B-9F41-4F2B-AA1F-7DAB8D25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242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能把稳定结论写回项目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B220E4-F892-4884-B06D-014603CB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952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AI-hardware 工程师配置的终点，不是“agent 很会说”，而是它写模块时会先写 testbench，并在 RTL 工程闭环中持续被反馈训练。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8D3123-8E03-4A2D-A96C-2A6D06E0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AI-hardware 工程师配置剖析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A66D3C-560F-4ECC-B20B-C4743DC8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63537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2026-05-28T07:18:14.1010000Z</dcterms:created>
  <dcterms:modified xsi:type="dcterms:W3CDTF">2026-05-28T07:18:14.1010000Z</dcterms:modified>
</coreProperties>
</file>