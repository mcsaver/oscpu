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936b7bda87430d" /><Relationship Type="http://schemas.openxmlformats.org/officeDocument/2006/relationships/extended-properties" Target="/docProps/app.xml" Id="R9afaa10f95e145fa" /><Relationship Type="http://schemas.openxmlformats.org/officeDocument/2006/relationships/officeDocument" Target="/ppt/presentation.xml" Id="R953c4cdf2d3245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589ddd40d446d5"/>
  </p:sldMasterIdLst>
  <p:notesMasterIdLst>
    <p:notesMasterId xmlns:r="http://schemas.openxmlformats.org/officeDocument/2006/relationships" r:id="Rc66d6abbe7744027"/>
  </p:notesMasterIdLst>
  <p:sldIdLst>
    <p:sldId xmlns:r="http://schemas.openxmlformats.org/officeDocument/2006/relationships" id="256" r:id="Rafd7eb5511d14f8d"/>
    <p:sldId xmlns:r="http://schemas.openxmlformats.org/officeDocument/2006/relationships" id="257" r:id="Rbc3abd59f0a54955"/>
    <p:sldId xmlns:r="http://schemas.openxmlformats.org/officeDocument/2006/relationships" id="258" r:id="R9c62948012c142dd"/>
    <p:sldId xmlns:r="http://schemas.openxmlformats.org/officeDocument/2006/relationships" id="259" r:id="R3e77d0941b914357"/>
    <p:sldId xmlns:r="http://schemas.openxmlformats.org/officeDocument/2006/relationships" id="260" r:id="Rd4d23e746ba2462c"/>
    <p:sldId xmlns:r="http://schemas.openxmlformats.org/officeDocument/2006/relationships" id="261" r:id="Rb968b241bcf14d4f"/>
    <p:sldId xmlns:r="http://schemas.openxmlformats.org/officeDocument/2006/relationships" id="262" r:id="Re9d6e79591434dcf"/>
    <p:sldId xmlns:r="http://schemas.openxmlformats.org/officeDocument/2006/relationships" id="263" r:id="Ra4a4356e1b644e0b"/>
    <p:sldId xmlns:r="http://schemas.openxmlformats.org/officeDocument/2006/relationships" id="264" r:id="Re9d3f97162e94631"/>
    <p:sldId xmlns:r="http://schemas.openxmlformats.org/officeDocument/2006/relationships" id="265" r:id="R5df2ce5e785640af"/>
    <p:sldId xmlns:r="http://schemas.openxmlformats.org/officeDocument/2006/relationships" id="266" r:id="Rab033facaf3b4392"/>
    <p:sldId xmlns:r="http://schemas.openxmlformats.org/officeDocument/2006/relationships" id="267" r:id="R8ae1ba6574014d60"/>
    <p:sldId xmlns:r="http://schemas.openxmlformats.org/officeDocument/2006/relationships" id="268" r:id="Ra83c57b696814e3a"/>
    <p:sldId xmlns:r="http://schemas.openxmlformats.org/officeDocument/2006/relationships" id="269" r:id="Rc6d0f07aaab84d10"/>
    <p:sldId xmlns:r="http://schemas.openxmlformats.org/officeDocument/2006/relationships" id="270" r:id="Ree48f3efe3a14d07"/>
    <p:sldId xmlns:r="http://schemas.openxmlformats.org/officeDocument/2006/relationships" id="271" r:id="R812f8e9ab26f4f6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589ddd40d446d5" /><Relationship Type="http://schemas.openxmlformats.org/officeDocument/2006/relationships/theme" Target="/ppt/theme/theme1.xml" Id="R510c58aae22a43d0" /><Relationship Type="http://schemas.openxmlformats.org/officeDocument/2006/relationships/notesMaster" Target="/ppt/notesMasters/notesMaster1.xml" Id="Rc66d6abbe7744027" /><Relationship Type="http://schemas.openxmlformats.org/officeDocument/2006/relationships/presProps" Target="/ppt/presProps.xml" Id="R80ee1e35f8e246e2" /><Relationship Type="http://schemas.openxmlformats.org/officeDocument/2006/relationships/viewProps" Target="/ppt/viewProps.xml" Id="Rcaac40b2adbf4dbb" /><Relationship Type="http://schemas.openxmlformats.org/officeDocument/2006/relationships/tableStyles" Target="/ppt/tableStyles.xml" Id="R0f30fb367da6447a" /><Relationship Type="http://schemas.openxmlformats.org/officeDocument/2006/relationships/slide" Target="/ppt/slides/slide1.xml" Id="Rafd7eb5511d14f8d" /><Relationship Type="http://schemas.openxmlformats.org/officeDocument/2006/relationships/slide" Target="/ppt/slides/slide2.xml" Id="Rbc3abd59f0a54955" /><Relationship Type="http://schemas.openxmlformats.org/officeDocument/2006/relationships/slide" Target="/ppt/slides/slide3.xml" Id="R9c62948012c142dd" /><Relationship Type="http://schemas.openxmlformats.org/officeDocument/2006/relationships/slide" Target="/ppt/slides/slide4.xml" Id="R3e77d0941b914357" /><Relationship Type="http://schemas.openxmlformats.org/officeDocument/2006/relationships/slide" Target="/ppt/slides/slide5.xml" Id="Rd4d23e746ba2462c" /><Relationship Type="http://schemas.openxmlformats.org/officeDocument/2006/relationships/slide" Target="/ppt/slides/slide6.xml" Id="Rb968b241bcf14d4f" /><Relationship Type="http://schemas.openxmlformats.org/officeDocument/2006/relationships/slide" Target="/ppt/slides/slide7.xml" Id="Re9d6e79591434dcf" /><Relationship Type="http://schemas.openxmlformats.org/officeDocument/2006/relationships/slide" Target="/ppt/slides/slide8.xml" Id="Ra4a4356e1b644e0b" /><Relationship Type="http://schemas.openxmlformats.org/officeDocument/2006/relationships/slide" Target="/ppt/slides/slide9.xml" Id="Re9d3f97162e94631" /><Relationship Type="http://schemas.openxmlformats.org/officeDocument/2006/relationships/slide" Target="/ppt/slides/slide10.xml" Id="R5df2ce5e785640af" /><Relationship Type="http://schemas.openxmlformats.org/officeDocument/2006/relationships/slide" Target="/ppt/slides/slide11.xml" Id="Rab033facaf3b4392" /><Relationship Type="http://schemas.openxmlformats.org/officeDocument/2006/relationships/slide" Target="/ppt/slides/slide12.xml" Id="R8ae1ba6574014d60" /><Relationship Type="http://schemas.openxmlformats.org/officeDocument/2006/relationships/slide" Target="/ppt/slides/slide13.xml" Id="Ra83c57b696814e3a" /><Relationship Type="http://schemas.openxmlformats.org/officeDocument/2006/relationships/slide" Target="/ppt/slides/slide14.xml" Id="Rc6d0f07aaab84d10" /><Relationship Type="http://schemas.openxmlformats.org/officeDocument/2006/relationships/slide" Target="/ppt/slides/slide15.xml" Id="Ree48f3efe3a14d07" /><Relationship Type="http://schemas.openxmlformats.org/officeDocument/2006/relationships/slide" Target="/ppt/slides/slide16.xml" Id="R812f8e9ab26f4f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a0d568f088d40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ce1d6818f54e51" /><Relationship Type="http://schemas.openxmlformats.org/officeDocument/2006/relationships/notesMaster" Target="/ppt/notesMasters/notesMaster1.xml" Id="R3859eb6416a542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5d2e35897e429c" /><Relationship Type="http://schemas.openxmlformats.org/officeDocument/2006/relationships/notesMaster" Target="/ppt/notesMasters/notesMaster1.xml" Id="R526d56270e584c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ef757048b74e6b" /><Relationship Type="http://schemas.openxmlformats.org/officeDocument/2006/relationships/notesMaster" Target="/ppt/notesMasters/notesMaster1.xml" Id="R9e7f5e99a25044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efdd7c50874424" /><Relationship Type="http://schemas.openxmlformats.org/officeDocument/2006/relationships/notesMaster" Target="/ppt/notesMasters/notesMaster1.xml" Id="R32bd6032debc49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0f6443d68e4c0d" /><Relationship Type="http://schemas.openxmlformats.org/officeDocument/2006/relationships/notesMaster" Target="/ppt/notesMasters/notesMaster1.xml" Id="Rac21461c6b9f46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05b825a43d43df" /><Relationship Type="http://schemas.openxmlformats.org/officeDocument/2006/relationships/notesMaster" Target="/ppt/notesMasters/notesMaster1.xml" Id="Rac97e0d14a7848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8603f5e04d49c3" /><Relationship Type="http://schemas.openxmlformats.org/officeDocument/2006/relationships/notesMaster" Target="/ppt/notesMasters/notesMaster1.xml" Id="Rf777ed8bc2344c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73ade0cd004c64" /><Relationship Type="http://schemas.openxmlformats.org/officeDocument/2006/relationships/notesMaster" Target="/ppt/notesMasters/notesMaster1.xml" Id="R8692780d453143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f0d3716f924bf9" /><Relationship Type="http://schemas.openxmlformats.org/officeDocument/2006/relationships/notesMaster" Target="/ppt/notesMasters/notesMaster1.xml" Id="Red1a70147c3f46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987caf1a3c4d33" /><Relationship Type="http://schemas.openxmlformats.org/officeDocument/2006/relationships/notesMaster" Target="/ppt/notesMasters/notesMaster1.xml" Id="Ra23bb0a9bf1a40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33f11d1794a421e" /><Relationship Type="http://schemas.openxmlformats.org/officeDocument/2006/relationships/notesMaster" Target="/ppt/notesMasters/notesMaster1.xml" Id="R847581f709e24ab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d486026e6f466d" /><Relationship Type="http://schemas.openxmlformats.org/officeDocument/2006/relationships/notesMaster" Target="/ppt/notesMasters/notesMaster1.xml" Id="Rf0ce51c825564ce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f6b949b43584bb4" /><Relationship Type="http://schemas.openxmlformats.org/officeDocument/2006/relationships/notesMaster" Target="/ppt/notesMasters/notesMaster1.xml" Id="Rdf80ffe29ed3453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4dc0ecfff594541" /><Relationship Type="http://schemas.openxmlformats.org/officeDocument/2006/relationships/notesMaster" Target="/ppt/notesMasters/notesMaster1.xml" Id="R600b8ab47d09488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db09692290649c9" /><Relationship Type="http://schemas.openxmlformats.org/officeDocument/2006/relationships/notesMaster" Target="/ppt/notesMasters/notesMaster1.xml" Id="R3ebe1995637a44f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c1ba4a72e324481" /><Relationship Type="http://schemas.openxmlformats.org/officeDocument/2006/relationships/notesMaster" Target="/ppt/notesMasters/notesMaster1.xml" Id="R583e8c1b713345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a903aa0d7f463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11cfc6c681c4ea8" /><Relationship Type="http://schemas.openxmlformats.org/officeDocument/2006/relationships/slideLayout" Target="/ppt/slideLayouts/slideLayout2.xml" Id="R42c6acd8591a49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c6acd8591a49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515ebf1e9c4295" /><Relationship Type="http://schemas.openxmlformats.org/officeDocument/2006/relationships/image" Target="/ppt/media/image.png" Id="R356c4b2127824231" /><Relationship Type="http://schemas.openxmlformats.org/officeDocument/2006/relationships/image" Target="/ppt/media/image.svg" Id="Rf18660a2133f4609" /><Relationship Type="http://schemas.openxmlformats.org/officeDocument/2006/relationships/image" Target="/ppt/media/image2.png" Id="Ra6910453d2584158" /><Relationship Type="http://schemas.openxmlformats.org/officeDocument/2006/relationships/image" Target="/ppt/media/image2.svg" Id="R39439f9dc2694d41" /><Relationship Type="http://schemas.openxmlformats.org/officeDocument/2006/relationships/notesSlide" Target="/ppt/notesSlides/notesSlide1.xml" Id="Rb3a37cf86b3c49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1e72d63bde43d4" /><Relationship Type="http://schemas.openxmlformats.org/officeDocument/2006/relationships/notesSlide" Target="/ppt/notesSlides/notesSlide2.xml" Id="R2e4a830fcdbb4a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5de2a3e4e34ecd" /><Relationship Type="http://schemas.openxmlformats.org/officeDocument/2006/relationships/notesSlide" Target="/ppt/notesSlides/notesSlide3.xml" Id="R05d4d70accf34c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85933dab2c49c8" /><Relationship Type="http://schemas.openxmlformats.org/officeDocument/2006/relationships/notesSlide" Target="/ppt/notesSlides/notesSlide4.xml" Id="R307ec70391814e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be22a7af4b40fd" /><Relationship Type="http://schemas.openxmlformats.org/officeDocument/2006/relationships/notesSlide" Target="/ppt/notesSlides/notesSlide5.xml" Id="R093d615b37f24f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ab8d687bf04209" /><Relationship Type="http://schemas.openxmlformats.org/officeDocument/2006/relationships/notesSlide" Target="/ppt/notesSlides/notesSlide6.xml" Id="R149084de29ea4a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6236b9b0144e91" /><Relationship Type="http://schemas.openxmlformats.org/officeDocument/2006/relationships/notesSlide" Target="/ppt/notesSlides/notesSlide7.xml" Id="R4b2c5fbab3db40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16119fb1284939" /><Relationship Type="http://schemas.openxmlformats.org/officeDocument/2006/relationships/notesSlide" Target="/ppt/notesSlides/notesSlide8.xml" Id="R40b1479a3a9e44a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215b2ee1504ef2" /><Relationship Type="http://schemas.openxmlformats.org/officeDocument/2006/relationships/notesSlide" Target="/ppt/notesSlides/notesSlide9.xml" Id="Rbb399d7c52c94c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bbdfc8aeee4117" /><Relationship Type="http://schemas.openxmlformats.org/officeDocument/2006/relationships/notesSlide" Target="/ppt/notesSlides/notesSlide10.xml" Id="R06ce19d53ccd4f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d9ccf978944df4" /><Relationship Type="http://schemas.openxmlformats.org/officeDocument/2006/relationships/notesSlide" Target="/ppt/notesSlides/notesSlide11.xml" Id="R0a116991df364e8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74a93d8556451d" /><Relationship Type="http://schemas.openxmlformats.org/officeDocument/2006/relationships/notesSlide" Target="/ppt/notesSlides/notesSlide12.xml" Id="R8eb9c68bea4e493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a66d248ec1406f" /><Relationship Type="http://schemas.openxmlformats.org/officeDocument/2006/relationships/notesSlide" Target="/ppt/notesSlides/notesSlide13.xml" Id="R570b07561e204ee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32b9057639450b" /><Relationship Type="http://schemas.openxmlformats.org/officeDocument/2006/relationships/notesSlide" Target="/ppt/notesSlides/notesSlide14.xml" Id="Rc136a764307a466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381290c2e54639" /><Relationship Type="http://schemas.openxmlformats.org/officeDocument/2006/relationships/notesSlide" Target="/ppt/notesSlides/notesSlide15.xml" Id="R3f2031f55b454a6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500e5193ea4f1d" /><Relationship Type="http://schemas.openxmlformats.org/officeDocument/2006/relationships/notesSlide" Target="/ppt/notesSlides/notesSlide16.xml" Id="R2efcf2a37eca4ce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8AAB26-4726-4601-97B8-DAC313B7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7420AC-93CE-49A3-97A4-481F0AAE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8D0C3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D8D0C3"/>
                </a:solidFill>
                <a:latin typeface="Consolas"/>
                <a:ea typeface="Consolas"/>
                <a:cs typeface="Consolas"/>
              </a:rPr>
              <a:t>ENGINEERING RUNBOOK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F3B82-DBC0-47CB-B515-3897CF18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5AA8F-3CB1-443F-B7F8-079E76FA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685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复刻 ysyx-workbench</a:t>
            </a:r>
          </a:p>
          <a:p xmlns:a="http://schemas.openxmlformats.org/drawingml/2006/main">
            <a:pPr algn="l">
              <a:defRPr sz="240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AI 开发环境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C18D1-1294-44B3-95D7-8A1245DD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57375"/>
            <a:ext cx="685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rPr>
              <a:t>目标：让另一台机器上的 AI agent 能按同一条读链工作，能构建 NEMU/NPC/ysyxSoC，能跑 smoke，能把证据写回 memory/task-runs。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4E086-8597-41A6-B25E-8AF5F198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FD168-C733-4323-90D3-F1375970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90625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3DC08-43E3-4BB9-A1B7-769F2432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04925"/>
            <a:ext cx="25908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最终验收不是“装好了工具”</a:t>
            </a:r>
          </a:p>
          <a:p xmlns:a="http://schemas.openxmlformats.org/drawingml/2006/main">
            <a:pPr algn="l">
              <a:defRPr sz="112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而是四个 gate 都能过：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1 discovery: agent 能读到 AGENTS</a:t>
            </a:r>
          </a:p>
          <a:p xmlns:a="http://schemas.openxmlformats.org/drawingml/2006/main">
            <a:pPr algn="l">
              <a:defRPr sz="112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2 build: 工具链版本可验证</a:t>
            </a:r>
          </a:p>
          <a:p xmlns:a="http://schemas.openxmlformats.org/drawingml/2006/main">
            <a:pPr algn="l">
              <a:defRPr sz="112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3 run: reference/target smoke 通过</a:t>
            </a:r>
          </a:p>
          <a:p xmlns:a="http://schemas.openxmlformats.org/drawingml/2006/main">
            <a:pPr algn="l">
              <a:defRPr sz="112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4 record: memory/task-runs 能落账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6c4b2127824231">
            <a:extLst>
              <a:ext uri="{96DAC541-7B7A-43D3-8B79-37D633B846F1}">
                <asvg:svgBlip xmlns:asvg="http://schemas.microsoft.com/office/drawing/2016/SVG/main" r:embed="Rf18660a2133f460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58250" y="4095750"/>
            <a:ext cx="457200" cy="457200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910453d2584158">
            <a:extLst>
              <a:ext uri="{96DAC541-7B7A-43D3-8B79-37D633B846F1}">
                <asvg:svgBlip xmlns:asvg="http://schemas.microsoft.com/office/drawing/2016/SVG/main" r:embed="R39439f9dc2694d4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96450" y="47625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193856-C706-422D-9C49-7D249B54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715000"/>
            <a:ext cx="3333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适用假设：Ubuntu/WSL + bash + 可访问 ysyx-workbench 仓库。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6F345D-7250-4B70-BF4A-C50CDD63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rPr>
              <a:t>ysyx-workbench AI 环境工程化配置手册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25AFC9-F89B-4627-A2D7-5A49BBDD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D0C3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D8D0C3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8213935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908A39-0B21-4724-AD30-A3769B9A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23A54-F442-4DD0-B460-1D1E587B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168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697168"/>
                </a:solidFill>
                <a:latin typeface="Consolas"/>
                <a:ea typeface="Consolas"/>
                <a:cs typeface="Consolas"/>
              </a:rPr>
              <a:t>ACCEPTANCE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7411EB-6755-4902-A88B-D065C6D6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2FCD1-8A2A-4673-86E7-D3E30B58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先定义“配置完成”的工程验收标准，而不是边装边猜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A0E68-493C-4971-8EB8-2D55331E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914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把复刻目标拆成可检查产物：文件、环境变量、命令、日志和记忆记录。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23C3E-86B7-4E91-A718-2A2086E5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333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EE9F19-ACA6-4823-8687-14C1E321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06740C-C700-4B7B-ACC7-91ECFE18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0325"/>
            <a:ext cx="2009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仓库规则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ED33BF-D18D-4062-86C6-176E823F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199072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根 AGENTS shim 能回链到 .github/AGENTS.md；新 agent 会先读 memory / known-issues。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F14D70-888E-42F4-898C-443F3011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76500"/>
            <a:ext cx="2333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17E8F5-F3E9-47B9-BF8C-81F86FCA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76500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C96F0C-02F4-476C-802A-FDB23D55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00325"/>
            <a:ext cx="2009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工具链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49AB98-259B-404E-839F-4585A31E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914650"/>
            <a:ext cx="199072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make/verilator/riscv gcc/java/mill/NEMU/NPC 的版本和路径可由命令确认。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5C1EB7-9F3A-4BDD-99B0-CDA95575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2333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84B6EB-C22D-4C44-82D4-E73EAD9A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D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229621-4DFD-4E84-89AB-B4B718B5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0325"/>
            <a:ext cx="2009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主闭环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F49A54-56C5-44A7-8622-B74B9F8D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14650"/>
            <a:ext cx="199072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同一个 AM 镜像能在 riscv32-nemu 和 riscv32-npc 跑 smoke，必要时打开 DiffTest。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3ED99A-EACC-4B94-A591-CC62EFE4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76500"/>
            <a:ext cx="2333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5FABE6-BB6E-412A-B9B4-031903D2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76500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1A83DA-802B-4C48-AFD3-AA1895C1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00325"/>
            <a:ext cx="2009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记录系统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B8AD78-2E2F-428A-BF12-3D4116D2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914650"/>
            <a:ext cx="199072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完成一次配置任务后，project-status、agent-system memory、task-runs 都被更新。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47E23E-3D0A-4B2B-99A8-3EC46ACE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B31034-595C-4DC9-AAC9-BB869F39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876925"/>
            <a:ext cx="883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目标环境必须留下四类 gate 的命令输出或日志路径；失败项进入 known-issues，不口头跳过。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6D7C00-9749-48DB-95EC-4DF2A707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rPr>
              <a:t>ysyx-workbench AI 环境工程化配置手册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DD20B4-0DD6-4300-8E71-E117B825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0766F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70766F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9209625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7A8CB8-E38E-4C4F-8D23-F179B126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DC2CF-F7D5-4BCD-A574-1598D605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168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697168"/>
                </a:solidFill>
                <a:latin typeface="Consolas"/>
                <a:ea typeface="Consolas"/>
                <a:cs typeface="Consolas"/>
              </a:rPr>
              <a:t>REPO ASSET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7A763-96CE-43CC-A685-70DD3565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A05F2-29C0-4BFE-A2D5-789C8FD7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先搬“仓库内工程资产”：这些文件决定 AI 会怎么工作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7A1D7-393E-4B93-ADF8-633DD885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914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复刻 AI 环境不是复制聊天记录，而是复制可被任何 agent 发现的工程规则和证据账本。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8ACE9E-3FD8-468D-84EB-FCA0503F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56197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A71427-D5FB-4D82-8C2E-4B3AFE40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47925"/>
            <a:ext cx="5353050" cy="2771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ysyx-workbench/</a:t>
            </a:r>
          </a:p>
          <a:p xmlns:a="http://schemas.openxmlformats.org/drawingml/2006/main">
            <a:pPr algn="l">
              <a:defRPr sz="1050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├─ AGENTS.md / CLAUDE.md / GEMINI.md / CONVENTIONS.md</a:t>
            </a:r>
          </a:p>
          <a:p xmlns:a="http://schemas.openxmlformats.org/drawingml/2006/main">
            <a:pPr algn="l">
              <a:defRPr sz="1050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├─ .cursor/rules/agents.mdc / .windsurfrules</a:t>
            </a:r>
          </a:p>
          <a:p xmlns:a="http://schemas.openxmlformats.org/drawingml/2006/main">
            <a:pPr algn="l">
              <a:defRPr sz="1050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├─ .github/AGENTS.md</a:t>
            </a:r>
          </a:p>
          <a:p xmlns:a="http://schemas.openxmlformats.org/drawingml/2006/main">
            <a:pPr algn="l">
              <a:defRPr sz="1050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├─ .github/copilot-instructions.md</a:t>
            </a:r>
          </a:p>
          <a:p xmlns:a="http://schemas.openxmlformats.org/drawingml/2006/main">
            <a:pPr algn="l">
              <a:defRPr sz="1050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├─ .github/instructions/*.instructions.md</a:t>
            </a:r>
          </a:p>
          <a:p xmlns:a="http://schemas.openxmlformats.org/drawingml/2006/main">
            <a:pPr algn="l">
              <a:defRPr sz="1050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├─ .github/agents/*.agent.md</a:t>
            </a:r>
          </a:p>
          <a:p xmlns:a="http://schemas.openxmlformats.org/drawingml/2006/main">
            <a:pPr algn="l">
              <a:defRPr sz="1050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├─ .github/agentic-hardware-blueprint.md</a:t>
            </a:r>
          </a:p>
          <a:p xmlns:a="http://schemas.openxmlformats.org/drawingml/2006/main">
            <a:pPr algn="l">
              <a:defRPr sz="1050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├─ .github/memory/{project-status,known-issues,decisions}.md</a:t>
            </a:r>
          </a:p>
          <a:p xmlns:a="http://schemas.openxmlformats.org/drawingml/2006/main">
            <a:pPr algn="l">
              <a:defRPr sz="1050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├─ .github/memory/modules/*.md</a:t>
            </a:r>
          </a:p>
          <a:p xmlns:a="http://schemas.openxmlformats.org/drawingml/2006/main">
            <a:pPr algn="l">
              <a:defRPr sz="1050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└─ .github/task-runs/templates/*.md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F0890-0BE0-4C37-896F-5FC9F764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400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353E15-49FB-463E-B6E2-25AA2DFF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9446E-8407-4CC8-8630-C756C646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57450"/>
            <a:ext cx="3676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必须进 Git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307F8C-9600-45C9-8B4C-5C62D0D3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71775"/>
            <a:ext cx="365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AGENTS shim、.github/AGENTS.md、instructions、agents、blueprint、memory 模板。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D594F0-B4FE-438E-8CFC-A3B6D3B5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33750"/>
            <a:ext cx="400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39F9D6-5803-4514-8247-F50BB710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33750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12AE11-F71D-4683-B56B-E6EC5359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57575"/>
            <a:ext cx="3676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可以机器本地化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7A0A39-92AE-4998-B86B-0BC61DE1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71900"/>
            <a:ext cx="365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~/.bashrc、~/.local/bin/mill、oss-cad-suite 安装路径、Codex 插件安装。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4B4C9D-10D3-4C98-B79D-145A8708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33875"/>
            <a:ext cx="400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488B9F-96D2-4B2B-89F1-86B34CEF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33875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D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169492-7854-4CCA-89C9-351407CB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57700"/>
            <a:ext cx="3676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不要依赖本地记忆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FECB1D-E03E-408A-A193-CE88EEC1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72025"/>
            <a:ext cx="365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项目事实必须写回仓库 memory；本地偏好不能成为唯一事实来源。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1AF5DE-C565-4314-8B50-C0C94327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10250"/>
            <a:ext cx="914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检查方式：新机器 clone 后运行 find .github -maxdepth 2 -type f | sort，确认规则资产完整。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B78297-2844-4EB9-9F00-C4BA965D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rPr>
              <a:t>ysyx-workbench AI 环境工程化配置手册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BC9924-6500-4359-B689-0568EF97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0766F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70766F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2592235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1310CB-DC29-4E54-A65A-E821A477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1AC05-29FA-4550-88CC-BB993AD9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168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697168"/>
                </a:solidFill>
                <a:latin typeface="Consolas"/>
                <a:ea typeface="Consolas"/>
                <a:cs typeface="Consolas"/>
              </a:rPr>
              <a:t>BOOTSTRAP PATHS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4C976F-3776-4081-A72C-FEB40F24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D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90E4A-F9C8-4370-B0BE-F688328D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有两种复刻路径：推荐完整 clone，课程原生路径用 init.sh 补模块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8FF3F-41B7-4F0C-AB93-3EE8B27B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914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先决定你是在复制“我的完整工作区”，还是从 NJU/YSYX 上游重新初始化课程模块。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C1ACD-C097-4DDF-95D4-2708E375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953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497497-5140-4E0D-B5DC-2CF9935B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455AF8-52D3-4A12-96CF-E0169BE4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05075"/>
            <a:ext cx="462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路径 A：完整复刻当前工作区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2C9A13-67CE-4DCB-A055-231EA995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46101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6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适合把这套 AI 环境迁到另一台自己的机器。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6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6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1. clone/同步 ysyx-workbench</a:t>
            </a:r>
          </a:p>
          <a:p xmlns:a="http://schemas.openxmlformats.org/drawingml/2006/main">
            <a:pPr algn="l">
              <a:defRPr sz="106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6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2. 保留 .github、npc、nemu、AM、ysyxSoC 等目录</a:t>
            </a:r>
          </a:p>
          <a:p xmlns:a="http://schemas.openxmlformats.org/drawingml/2006/main">
            <a:pPr algn="l">
              <a:defRPr sz="106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6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3. 只重新安装本机工具链和 PATH</a:t>
            </a:r>
          </a:p>
          <a:p xmlns:a="http://schemas.openxmlformats.org/drawingml/2006/main">
            <a:pPr algn="l">
              <a:defRPr sz="106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6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4. 跑 smoke gate 验收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BDE8FC-17C9-46A2-A7EF-DBDB894F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457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85C697-C2DF-4933-A799-4A022059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52950"/>
            <a:ext cx="4305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git clone &lt;your-remote&gt;/ysyx-workbench.git</a:t>
            </a:r>
          </a:p>
          <a:p xmlns:a="http://schemas.openxmlformats.org/drawingml/2006/main">
            <a:pPr algn="l">
              <a:defRPr sz="97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cd ysyx-workbench</a:t>
            </a:r>
          </a:p>
          <a:p xmlns:a="http://schemas.openxmlformats.org/drawingml/2006/main">
            <a:pPr algn="l">
              <a:defRPr sz="97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git status --short</a:t>
            </a:r>
          </a:p>
          <a:p xmlns:a="http://schemas.openxmlformats.org/drawingml/2006/main">
            <a:pPr algn="l">
              <a:defRPr sz="97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find .github -maxdepth 2 -type f | sort | head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F8FE1F-A3FC-48D5-AB65-B7F08D0D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953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5D6A6D-8FA9-4DF4-94CD-DCC6D514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C7B390-C9D5-4219-8F20-1032157F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05075"/>
            <a:ext cx="462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路径 B：课程上游重新初始化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793346-FAA4-4DD1-A98B-4322F6F8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19400"/>
            <a:ext cx="46101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6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适合从 PA/YSYX 原始仓库开始搭，再移植 AI 工程规则。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6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6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init.sh 会 clone NJU-ProjectN 模块，并把 NEMU_HOME / AM_HOME / NPC_HOME 写入 bashrc。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8116DA-CE07-495C-A20D-D90931C1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38650"/>
            <a:ext cx="4572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C442D7-8CE7-49F6-8BFB-95C41878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52950"/>
            <a:ext cx="4305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./init.sh nemu</a:t>
            </a:r>
          </a:p>
          <a:p xmlns:a="http://schemas.openxmlformats.org/drawingml/2006/main">
            <a:pPr algn="l">
              <a:defRPr sz="97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./init.sh abstract-machine</a:t>
            </a:r>
          </a:p>
          <a:p xmlns:a="http://schemas.openxmlformats.org/drawingml/2006/main">
            <a:pPr algn="l">
              <a:defRPr sz="97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./init.sh am-kernels</a:t>
            </a:r>
          </a:p>
          <a:p xmlns:a="http://schemas.openxmlformats.org/drawingml/2006/main">
            <a:pPr algn="l">
              <a:defRPr sz="97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./init.sh nvboard</a:t>
            </a:r>
          </a:p>
          <a:p xmlns:a="http://schemas.openxmlformats.org/drawingml/2006/main">
            <a:pPr algn="l">
              <a:defRPr sz="97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./init.sh npc</a:t>
            </a:r>
          </a:p>
          <a:p xmlns:a="http://schemas.openxmlformats.org/drawingml/2006/main">
            <a:pPr algn="l">
              <a:defRPr sz="97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source ~/.bashrc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4306B6-1663-4087-98A9-02B22FB5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810250"/>
            <a:ext cx="942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注意：路径 B 还需要把 .github/、AGENTS shim、memory/task-runs 模板从当前工作区迁过去。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D7F6CE-17A5-4E78-B2D3-D87DA0D3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rPr>
              <a:t>ysyx-workbench AI 环境工程化配置手册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35189A-51F2-47F5-A483-41D26A78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0766F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70766F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3471108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4D91E0-208B-4D92-B58F-9446ACC9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4CFDD2-0B24-460B-B873-1F0B97B4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8D0C3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D8D0C3"/>
                </a:solidFill>
                <a:latin typeface="Consolas"/>
                <a:ea typeface="Consolas"/>
                <a:cs typeface="Consolas"/>
              </a:rPr>
              <a:t>OS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F7996-FD53-4F41-A738-C2B067E1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0774F-BD2B-4292-A9BA-7C59A2DA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系统依赖先按“可验证最小集”安装，再按失败日志补齐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8ABDF5-F240-42DE-A881-9EC41862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914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rPr>
              <a:t>不要把 apt 命令当成最终证明；每个关键工具都要有 version smoke。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9D9E4-C44A-406E-A950-70D727B8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6143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14EDDA-CD03-4B78-854F-DC7BE6EA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587692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sudo apt update</a:t>
            </a:r>
          </a:p>
          <a:p xmlns:a="http://schemas.openxmlformats.org/drawingml/2006/main">
            <a:pPr algn="l">
              <a:defRPr sz="990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sudo apt install -y \</a:t>
            </a:r>
          </a:p>
          <a:p xmlns:a="http://schemas.openxmlformats.org/drawingml/2006/main">
            <a:pPr algn="l">
              <a:defRPr sz="990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  git build-essential make gcc g++ gdb \</a:t>
            </a:r>
          </a:p>
          <a:p xmlns:a="http://schemas.openxmlformats.org/drawingml/2006/main">
            <a:pPr algn="l">
              <a:defRPr sz="990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  bison flex libreadline-dev libsdl2-dev pkg-config \</a:t>
            </a:r>
          </a:p>
          <a:p xmlns:a="http://schemas.openxmlformats.org/drawingml/2006/main">
            <a:pPr algn="l">
              <a:defRPr sz="990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  device-tree-compiler jq curl wget aria2 xz-utils \</a:t>
            </a:r>
          </a:p>
          <a:p xmlns:a="http://schemas.openxmlformats.org/drawingml/2006/main">
            <a:pPr algn="l">
              <a:defRPr sz="990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  zlib1g-dev libunwind-dev liblzma-dev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90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# 仿真与交叉编译</a:t>
            </a:r>
          </a:p>
          <a:p xmlns:a="http://schemas.openxmlformats.org/drawingml/2006/main">
            <a:pPr algn="l">
              <a:defRPr sz="990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sudo apt install -y verilator gcc-riscv64-linux-gnu g++-riscv64-linux-gnu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5F2266-0791-4D71-866C-154E983D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05050"/>
            <a:ext cx="4000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89FD04-6D36-4801-BEC1-6BE24A58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19350"/>
            <a:ext cx="37338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4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make --version | head -n1</a:t>
            </a:r>
          </a:p>
          <a:p xmlns:a="http://schemas.openxmlformats.org/drawingml/2006/main">
            <a:pPr algn="l">
              <a:defRPr sz="94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4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verilator --version | head -n1</a:t>
            </a:r>
          </a:p>
          <a:p xmlns:a="http://schemas.openxmlformats.org/drawingml/2006/main">
            <a:pPr algn="l">
              <a:defRPr sz="94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4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riscv64-linux-gnu-gcc --version | head -n1</a:t>
            </a:r>
          </a:p>
          <a:p xmlns:a="http://schemas.openxmlformats.org/drawingml/2006/main">
            <a:pPr algn="l">
              <a:defRPr sz="94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4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java -version</a:t>
            </a:r>
          </a:p>
          <a:p xmlns:a="http://schemas.openxmlformats.org/drawingml/2006/main">
            <a:pPr algn="l">
              <a:defRPr sz="94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4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mill --version | head -n3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4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4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# 当前机器参考输出：</a:t>
            </a:r>
          </a:p>
          <a:p xmlns:a="http://schemas.openxmlformats.org/drawingml/2006/main">
            <a:pPr algn="l">
              <a:defRPr sz="94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4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GNU Make 4.3</a:t>
            </a:r>
          </a:p>
          <a:p xmlns:a="http://schemas.openxmlformats.org/drawingml/2006/main">
            <a:pPr algn="l">
              <a:defRPr sz="94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4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Verilator 5.020</a:t>
            </a:r>
          </a:p>
          <a:p xmlns:a="http://schemas.openxmlformats.org/drawingml/2006/main">
            <a:pPr algn="l">
              <a:defRPr sz="94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4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riscv64-linux-gnu-gcc 13.3.0</a:t>
            </a:r>
          </a:p>
          <a:p xmlns:a="http://schemas.openxmlformats.org/drawingml/2006/main">
            <a:pPr algn="l">
              <a:defRPr sz="94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4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openjdk 21.0.10</a:t>
            </a:r>
          </a:p>
          <a:p xmlns:a="http://schemas.openxmlformats.org/drawingml/2006/main">
            <a:pPr algn="l">
              <a:defRPr sz="94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4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Mill 1.1.6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A17C21-4D18-450E-8FA4-D2DBE2A5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974EBB-029C-4495-B7E6-CD6F9993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876925"/>
            <a:ext cx="883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能用发行版包就先用包；课程要求 riscv64-unknown-elf 或更新 Verilator 时，再用专门工具链替换，并把路径写入 memory。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E61025-59DD-4957-B480-DC7BBD84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rPr>
              <a:t>ysyx-workbench AI 环境工程化配置手册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121CCF-F001-483D-B513-12775BC1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D0C3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D8D0C3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4860680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5C273D-4ADC-469C-B072-DB279DEA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AD0F88-2B3A-43B1-844A-DA3C93BA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168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697168"/>
                </a:solidFill>
                <a:latin typeface="Consolas"/>
                <a:ea typeface="Consolas"/>
                <a:cs typeface="Consolas"/>
              </a:rPr>
              <a:t>SHELL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8C5DA1-9952-45B8-9156-8AAED381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D255B-49A9-403A-88F9-0BF0545C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把路径契约写进 shell：AI 和 Makefile 都靠这些变量定位模块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62D470-F0AB-4330-B873-1E0FCBE1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914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完整 clone 后建议显式写环境变量；用 init.sh 初始化时，它会帮部分变量写入 ~/.bashrc。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5C1D4-4892-4B33-B1E6-3ECD0816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5334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9110B8-BCDD-41B6-9F9B-82420B7B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19350"/>
            <a:ext cx="50673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# ~/.bashrc 或项目专用 env.sh</a:t>
            </a:r>
          </a:p>
          <a:p xmlns:a="http://schemas.openxmlformats.org/drawingml/2006/main">
            <a:pPr algn="l">
              <a:defRPr sz="100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export YSYX_HOME=$HOME/PA/ysyx-workbench</a:t>
            </a:r>
          </a:p>
          <a:p xmlns:a="http://schemas.openxmlformats.org/drawingml/2006/main">
            <a:pPr algn="l">
              <a:defRPr sz="100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export NEMU_HOME=$YSYX_HOME/nemu</a:t>
            </a:r>
          </a:p>
          <a:p xmlns:a="http://schemas.openxmlformats.org/drawingml/2006/main">
            <a:pPr algn="l">
              <a:defRPr sz="100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export AM_HOME=$YSYX_HOME/abstract-machine</a:t>
            </a:r>
          </a:p>
          <a:p xmlns:a="http://schemas.openxmlformats.org/drawingml/2006/main">
            <a:pPr algn="l">
              <a:defRPr sz="100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export NPC_HOME=$YSYX_HOME/npc</a:t>
            </a:r>
          </a:p>
          <a:p xmlns:a="http://schemas.openxmlformats.org/drawingml/2006/main">
            <a:pPr algn="l">
              <a:defRPr sz="100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export NVBOARD_HOME=$YSYX_HOME/nvboard</a:t>
            </a:r>
          </a:p>
          <a:p xmlns:a="http://schemas.openxmlformats.org/drawingml/2006/main">
            <a:pPr algn="l">
              <a:defRPr sz="100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export PATH=$HOME/.local/bin:$PATH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0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# ysyxSoC / Chisel 要求 JDK 21</a:t>
            </a:r>
          </a:p>
          <a:p xmlns:a="http://schemas.openxmlformats.org/drawingml/2006/main">
            <a:pPr algn="l">
              <a:defRPr sz="100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export JAVA_HOME=$HOME/.local/jdk-21</a:t>
            </a:r>
          </a:p>
          <a:p xmlns:a="http://schemas.openxmlformats.org/drawingml/2006/main">
            <a:pPr algn="l">
              <a:defRPr sz="100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export PATH=$JAVA_HOME/bin:$PATH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0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100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source ~/.bashrc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38468-05E3-407D-ACEC-E2316D13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D0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BE78E9-474A-44B8-9220-3FDDF1A0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447925"/>
            <a:ext cx="1257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变量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363A27-AD00-4492-8BAC-040663BF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D0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816419-9F68-4085-9369-537DC6DA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447925"/>
            <a:ext cx="2686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谁会用到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B81ADC-3637-44AA-8E4F-D6908057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43200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E9C715-E11C-4F99-B57B-6ADF3C79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809875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0E7C7B"/>
                </a:solidFill>
                <a:latin typeface="Consolas"/>
                <a:ea typeface="Consolas"/>
                <a:cs typeface="Consolas"/>
              </a:defRPr>
            </a:pPr>
            <a:r>
              <a:rPr sz="915" b="1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NEMU_HOME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870598-75FC-43C8-8BC8-A75C74A6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43200"/>
            <a:ext cx="2857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DBC140-D7CE-4E55-974C-EE76BA09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09875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NEMU 构建、npc difftest-ref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13B98E-7EF1-4A68-887F-2A77723D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2087D3-9090-4696-A906-B3140969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2385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0E7C7B"/>
                </a:solidFill>
                <a:latin typeface="Consolas"/>
                <a:ea typeface="Consolas"/>
                <a:cs typeface="Consolas"/>
              </a:defRPr>
            </a:pPr>
            <a:r>
              <a:rPr sz="915" b="1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AM_HOME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13F8AF-FF54-4FC1-B7CD-FCB6A29F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71825"/>
            <a:ext cx="2857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8A3A07-C91B-4B14-8E58-BFD7397E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3850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am-kernels 构建 AM 镜像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0935A3-834B-4520-955C-844D6DBA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00450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3486D5-18CB-4C97-9913-562786DA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667125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0E7C7B"/>
                </a:solidFill>
                <a:latin typeface="Consolas"/>
                <a:ea typeface="Consolas"/>
                <a:cs typeface="Consolas"/>
              </a:defRPr>
            </a:pPr>
            <a:r>
              <a:rPr sz="915" b="1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NPC_HOME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B13DD6-20BB-41F5-8307-74D90B89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00450"/>
            <a:ext cx="2857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BB8660-8876-4361-844A-EF75AB7D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667125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AM riscv32-npc 平台入口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C52354-5BF6-4212-82E7-49814137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29075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8EA373-C9C2-4831-87F4-EBDE54FB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0957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0E7C7B"/>
                </a:solidFill>
                <a:latin typeface="Consolas"/>
                <a:ea typeface="Consolas"/>
                <a:cs typeface="Consolas"/>
              </a:defRPr>
            </a:pPr>
            <a:r>
              <a:rPr sz="915" b="1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PATH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6E3CAE-450A-49C6-81E9-65274B9C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29075"/>
            <a:ext cx="2857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1C43E8-5D11-4886-932E-E8180D86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0957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mill、oss-cad-suite、riscv gcc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ABE21F-2826-4C94-B313-9F3EF7DD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57700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FECAFC-AD91-4B76-B0BC-4C0758BE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524375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0E7C7B"/>
                </a:solidFill>
                <a:latin typeface="Consolas"/>
                <a:ea typeface="Consolas"/>
                <a:cs typeface="Consolas"/>
              </a:defRPr>
            </a:pPr>
            <a:r>
              <a:rPr sz="915" b="1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JAVA_HOME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5652C2-6E41-4773-9FB4-C95D53CC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57700"/>
            <a:ext cx="2857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B9EAE2-FBF3-4DE2-95BE-D95E7A02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524375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ysyxSoC / mill / Chisel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582D40-3832-4B15-8AB2-9205F5AD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9055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验证：env | grep -E "YSYX|NEMU_HOME|AM_HOME|NPC_HOME|JAVA_HOME"，确认路径指向当前 clone。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D8DA2D-094C-46BE-B22A-AEAECA91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rPr>
              <a:t>ysyx-workbench AI 环境工程化配置手册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0E1BF2-F12A-4CF1-9F62-EAF81773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0766F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70766F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7296459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C49E16-CB11-46DB-AC8B-292C1F49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B320F5-2E4E-4103-B107-3C157687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168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697168"/>
                </a:solidFill>
                <a:latin typeface="Consolas"/>
                <a:ea typeface="Consolas"/>
                <a:cs typeface="Consolas"/>
              </a:rPr>
              <a:t>AI DISCOVERY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6FDB0B-B205-4D68-A6E9-4A729DD5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93F290-1429-4EB1-9367-416126B7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配置 AI 层的核心：让任意 agent 进仓库后自动读到同一条规则链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C1F17-5AB6-4117-9775-57A21F0B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914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Codex skills/MCP 是执行能力；项目事实必须在仓库内，通过 AGENTS 和 .github 发现。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1FB03E-DAAA-4489-828E-76738145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1432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149D6-9135-4218-B581-9B1AD1C8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6667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3DFD76-1794-41BE-AFF2-08DDC80C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05075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1. 根 shim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B6C18-D19E-4D1B-BD74-83D06751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2800350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8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AGENTS.md 只保留最小契约并回链 .github/AGENTS.md。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88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8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同类入口：CLAUDE.md、GEMINI.md、CONVENTIONS.md、.windsurfrules、.cursor/rules。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46BF53-8B0F-46CE-A0D8-71EC0C67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31432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C92759-7F76-48F6-BFDF-DA6F22DF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6667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34663E-7847-41E9-B368-F1FF1467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05075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2. 正文规则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66893D-0ADE-4E28-8D73-6837D846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19400"/>
            <a:ext cx="2800350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8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.github/AGENTS.md 是跨 agent 基线；copilot-instructions.md 是工程补充；instructions/ 放目录/类型规则。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0C785E-BF32-49F9-999A-A20E4BA5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31432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620626-7662-4C50-88EE-02BD6052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6667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825C11-EBBC-49BF-B386-5024A7CE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05075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3. 触发测试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136688-E414-4CB3-BE78-40EE357B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19400"/>
            <a:ext cx="2800350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8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新会话输入：</a:t>
            </a:r>
          </a:p>
          <a:p xmlns:a="http://schemas.openxmlformats.org/drawingml/2006/main">
            <a:pPr algn="l">
              <a:defRPr sz="1088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8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“请先打开 .github/AGENTS.md，并列出本仓库开工读链。”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88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8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回答若未提 memory/known-issues，说明发现失败。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A62D38-5260-41FE-8A65-AD491215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286375"/>
            <a:ext cx="1000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D36060-A607-4006-8FE7-F6AE87C0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400675"/>
            <a:ext cx="9734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53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rg -n "完整规范统一维护|六步调度|memory" AGENTS.md .github/AGENTS.md .github/copilot-instructions.md</a:t>
            </a:r>
          </a:p>
          <a:p xmlns:a="http://schemas.openxmlformats.org/drawingml/2006/main">
            <a:pPr algn="l">
              <a:defRPr sz="953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53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find .github/agents .github/instructions -maxdepth 1 -type f | sort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EB97B4-0E0F-40FF-823F-1C423C71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rPr>
              <a:t>ysyx-workbench AI 环境工程化配置手册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B4DA1B-92BA-477C-8E49-736086E5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0766F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70766F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2187678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8274CF-9A34-494C-B9BB-A10FAC68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803AC9-BD21-46DA-B7BE-3FFAD52E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168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697168"/>
                </a:solidFill>
                <a:latin typeface="Consolas"/>
                <a:ea typeface="Consolas"/>
                <a:cs typeface="Consolas"/>
              </a:rPr>
              <a:t>PERSISTENCE WIRING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9855C-370A-4B3E-BC35-2957E210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15353-42B1-49D7-9C22-F39754C5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把 memory 和 task-runs 接上线：这是跨会话恢复能力的核心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4F6D6-8B2D-46E6-B833-E1F0CC69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914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新人/新 agent 不需要猜历史；它先读 memory，执行中写 task-runs，完成后把稳定结论压回 memory。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FEA79B-7168-48FE-B769-3D284BF5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7625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EF6D21-E62B-4C9B-99B7-C88F1EDA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902B16-7EB4-43F5-AF2D-BC326D62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86025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.github/memory/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FE880C-38C2-4A66-829A-BE453061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4419600" cy="1876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project-status.md：阶段与最近完成事项</a:t>
            </a:r>
          </a:p>
          <a:p xmlns:a="http://schemas.openxmlformats.org/drawingml/2006/main">
            <a:pPr algn="l">
              <a:defRPr sz="120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known-issues.md：活跃问题与踩坑</a:t>
            </a:r>
          </a:p>
          <a:p xmlns:a="http://schemas.openxmlformats.org/drawingml/2006/main">
            <a:pPr algn="l">
              <a:defRPr sz="120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decisions.md：长期设计决策</a:t>
            </a:r>
          </a:p>
          <a:p xmlns:a="http://schemas.openxmlformats.org/drawingml/2006/main">
            <a:pPr algn="l">
              <a:defRPr sz="120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modules/*.md：模块级事实和经验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69C111-F8E7-49E2-8961-1A569626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62200"/>
            <a:ext cx="47625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E0C88D-01E3-4BF5-A84C-986EF9D4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62200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68514D-B2F9-4120-A2CE-F0178A70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486025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.github/task-runs/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205D4B-6620-47C4-A7EE-1B1E5BE9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800350"/>
            <a:ext cx="4419600" cy="1876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README.md：目录职责</a:t>
            </a:r>
          </a:p>
          <a:p xmlns:a="http://schemas.openxmlformats.org/drawingml/2006/main">
            <a:pPr algn="l">
              <a:defRPr sz="120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templates/task-report.template.md</a:t>
            </a:r>
          </a:p>
          <a:p xmlns:a="http://schemas.openxmlformats.org/drawingml/2006/main">
            <a:pPr algn="l">
              <a:defRPr sz="120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templates/dispatch-log.template.md</a:t>
            </a:r>
          </a:p>
          <a:p xmlns:a="http://schemas.openxmlformats.org/drawingml/2006/main">
            <a:pPr algn="l">
              <a:defRPr sz="120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YYYY-MM-DD-task-slug/：本次执行证据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2CC82C-BEFA-4ED7-8FB2-D264AB98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9715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5D7507-5DD1-4315-98CB-BABADC0E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53050"/>
            <a:ext cx="9448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mkdir -p .github/task-runs/$(date +%F)-env-smoke</a:t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cp .github/task-runs/templates/task-report.template.md \</a:t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  .github/task-runs/$(date +%F)-env-smoke/task-report.md</a:t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cp .github/task-runs/templates/dispatch-log.template.md \</a:t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  .github/task-runs/$(date +%F)-env-smoke/dispatch-log.md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2230E6-1BE6-4D68-9EDB-DF935BA7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rPr>
              <a:t>ysyx-workbench AI 环境工程化配置手册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23C77-51E5-4555-9EA5-79AFEB27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0766F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70766F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557097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47F26E-8D8C-4AE2-8044-FBF8B661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CBD82-68A9-4E69-B065-DA600174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8D0C3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D8D0C3"/>
                </a:solidFill>
                <a:latin typeface="Consolas"/>
                <a:ea typeface="Consolas"/>
                <a:cs typeface="Consolas"/>
              </a:rPr>
              <a:t>NEMU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95CE4E-B754-4933-9F60-2DC10194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5E444-2118-4354-8E7A-06B25AFC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先把参考模型跑通：NEMU 是后续 NPC/DiffTest 的基准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2098F-794E-4184-B3C8-980A37AD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914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rPr>
              <a:t>如果 reference 不稳定，不要继续配置 target；先把 NEMU 和 AM 镜像闭环修好。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183CED-99BC-457A-BEA2-9C15DBBC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6000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56948-6FE1-4306-A614-5650D358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5734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# 1. 配置并构建 NEMU reference</a:t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make -C nemu riscv32-am_defconfig</a:t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make -C nemu -j$(nproc)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# 2. 构建并运行一个 AM CPU test</a:t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make -C am-kernels/tests/cpu-tests \</a:t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  ARCH=riscv32-nemu ALL=add run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# 3. 可选：一轮 AM 回归脚本</a:t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scripts/am-regression.sh --skip-devscan --no-bench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7BC77-7BE4-4A9E-B82A-6C587DA0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3905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096C74-07FF-4EF8-B929-FC188BE6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C96F1D-7D74-41A2-9C1A-74DA5200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57450"/>
            <a:ext cx="3581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通过标准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1ABB4C-CEF3-44BD-BCC3-F0ED6EF5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71775"/>
            <a:ext cx="3562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终端出现 HIT GOOD TRAP 或脚本 status 为 PASS；日志路径写入 task-runs。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1D5A8-CFE6-4CC9-9552-A7EF73B9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81375"/>
            <a:ext cx="3905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B4DA2C-7F8F-4484-BAAF-7588038E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8137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D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9C3C44-A785-4C7D-9F4D-C92074B3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05200"/>
            <a:ext cx="3581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失败先查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A59BDE-B7B5-4210-A64E-AC2F8E4C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19525"/>
            <a:ext cx="3562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NEMU_HOME 是否指向当前仓库；CONFIG_DEVICE/CONFIG_TARGET_AM 是否匹配；SDL/ASAN 噪音是否属于 known-issues。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2C88FE-115F-45AB-B0EB-E6FD17E1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29125"/>
            <a:ext cx="3905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4715A3-6A3A-4D46-AA7B-42366AEF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2912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461A9C-5809-41DF-A740-5AAA3F67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52950"/>
            <a:ext cx="3581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给 target 的产物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892D2A-381D-4533-ABE6-E282C8CE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67275"/>
            <a:ext cx="3562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AM 生成的 .bin/.elf/.txt 镜像路径、NEMU PASS 日志、必要的 mainargs。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8D79FF-5C3F-4CFA-A344-0CED3A55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rPr>
              <a:t>ysyx-workbench AI 环境工程化配置手册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0E7A4D-7A4E-4EFA-8E52-027D7CF3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D0C3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D8D0C3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9156230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5B49B5-168A-4E6C-B6F8-0F7EBD9E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9F9DB-D2EA-4286-ABD2-F03DBD9E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168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697168"/>
                </a:solidFill>
                <a:latin typeface="Consolas"/>
                <a:ea typeface="Consolas"/>
                <a:cs typeface="Consolas"/>
              </a:rPr>
              <a:t>NPC SIM BACKEND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DC065-0072-46E2-A005-CFBCA5C4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5EF59E-7D30-4E7F-9D46-F3BE52E5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再配置 NPC 统一入口：外部流程只和 npc/sim 交互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567A25-336E-4A7A-B72A-2EC3B88A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914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不要让外部脚本硬编码 npc/single；默认后端由 npc/sim 的 Kconfig 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A0839C-2488-4946-9DFF-1CA4166E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60007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04C454-1E1B-4F46-80BF-50D79F50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57340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# 初始化 npc/sim 后端选择</a:t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make -C npc/sim default_defconfig</a:t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make -C npc/sim status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# 切换默认后端</a:t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make -C npc/sim switch BACKEND=single</a:t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make -C npc/sim switch BACKEND=soc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# 配置真实后端自己的 Kconfig</a:t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make -C npc/sim backend-default_defconfig</a:t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make -C npc/sim backend-perf_defconfig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3E316-1546-448F-8E39-BE591DC9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3905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30D882-8139-4199-ADC3-07CB93C1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03FF45-9B12-4491-A7BB-5D63255E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57450"/>
            <a:ext cx="3581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single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C0D209-EBFA-44CB-813B-09C2156E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71775"/>
            <a:ext cx="3562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默认普通 NPC 自仿真后端：AM / riscv32-npc / NpcSimTop。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8850E0-8F57-4A29-AD48-2F355414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81375"/>
            <a:ext cx="3905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254A4D-7250-46B2-BF54-D7E0EB59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8137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D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86A42E-0DBB-4F59-BE3A-647A7404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05200"/>
            <a:ext cx="3581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soc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EFB552-D5F6-4829-BCA6-78F7DCE7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19525"/>
            <a:ext cx="3562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ysyxSoC 接入后端：保留 ysyx_26010035、AxiBridge、soc/soc-lint。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3E0157-1466-4C18-9D8F-416BF40D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29125"/>
            <a:ext cx="3905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4945EF-9B7D-4C74-88C0-B675E28F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2912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AFE000-71DD-4D22-BA33-3177631E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52950"/>
            <a:ext cx="3581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临时覆盖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18C6F7-D681-4A29-990D-0F3AEBC1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67275"/>
            <a:ext cx="3562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NPC_SIM_BACKEND=soc 或 BACKEND=soc 不必改默认配置，适合单次 smoke。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9A27E5-F10C-450C-8500-89567D4C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57875"/>
            <a:ext cx="1000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验收：make -C npc/sim status 显示 selected backend 和 backend directory。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2E6271-6AC6-43E5-9EF6-D3B176F5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rPr>
              <a:t>ysyx-workbench AI 环境工程化配置手册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1F5E96-9622-4B6F-976A-1B16CABF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0766F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70766F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8918722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07C5E2-A3D6-411F-B04A-4D44B639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52A00E-2AB6-4241-9DB0-6C54BF60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168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697168"/>
                </a:solidFill>
                <a:latin typeface="Consolas"/>
                <a:ea typeface="Consolas"/>
                <a:cs typeface="Consolas"/>
              </a:rPr>
              <a:t>AM TO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158B5-D942-4F52-860D-742AF1A5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D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BCE50-2DFB-4455-95EB-30757D4B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把 AM 镜像送到 target：riscv32-npc 会自动收口到 npc/sim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695B9A-898E-4B61-811F-4C1B584E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914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AM 只负责产出镜像和 mainargs，真正运行由 npc/sim 统一选择后端。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0C347-AB17-4FC6-9971-0100C444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60007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715178-5486-47B3-B5C0-499E9BF3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57340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# 普通 NPC target smoke</a:t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make -C am-kernels/tests/cpu-tests \</a:t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  ARCH=riscv32-npc ALL=add run \</a:t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  NPC_RUN_ARGS="--diff=default --no-progress -m 0"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# 临时切 soc 复制版普通后端</a:t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NPC_SIM_BACKEND=soc \</a:t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make -C am-kernels/tests/cpu-tests \</a:t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  ARCH=riscv32-npc ALL=add run \</a:t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  NPC_RUN_ARGS="--diff=default --no-progress -m 0"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E9FAEC-EFF8-42A7-BD8E-9ACB6A43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3905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A44BC-8367-4B95-8288-E177B5F1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C611D-DA64-4D63-869E-507AD312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57450"/>
            <a:ext cx="3581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变量流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38D85B-EE82-49EC-8A60-D3D3C69E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71775"/>
            <a:ext cx="3562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ARCH=riscv32-npc → AM scripts/platform/npc.mk → make -C npc/sim run。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F2F82E-9E89-402A-8387-A4388AFB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81375"/>
            <a:ext cx="3905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82C0AB-AAF8-4D16-A1D9-2A474F96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8137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50EAC2-C52E-4611-8EBC-C68F2AEE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05200"/>
            <a:ext cx="3581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DiffTest 前置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A08C4E-CE65-4503-B631-7A3DF802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19525"/>
            <a:ext cx="3562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先确保 make -C npc/sim difftest-ref 能构建 NEMU reference so。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C52C4C-4C2A-4AEB-A154-E04F4E70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29125"/>
            <a:ext cx="3905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5F8D80-E0F2-48C2-9FDE-706BC223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2912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141DA1-0BB1-4A5D-AE49-BBFF13ED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52950"/>
            <a:ext cx="3581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通过标准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60E3A8-4287-45D9-841A-AA00BE25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67275"/>
            <a:ext cx="3562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GOOD TRAP；若失败，记录 PC、commit、DiffTest mismatch 和后端。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80E5A1-4CB1-4E62-A641-3C647992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57875"/>
            <a:ext cx="1000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这是最重要的 target gate：它证明 AM、NPC、NEMU reference 与 npc/sim 都连起来了。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5C7933-33FB-4E50-B528-E714C4B0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rPr>
              <a:t>ysyx-workbench AI 环境工程化配置手册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CA97CF-1304-4FF3-B6BD-22D4B2C2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0766F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70766F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5487492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87CA8E-F5E9-4D4F-8D59-704E2707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23ECCC-19AF-4442-92CE-6B56FCE2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8D0C3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D8D0C3"/>
                </a:solidFill>
                <a:latin typeface="Consolas"/>
                <a:ea typeface="Consolas"/>
                <a:cs typeface="Consolas"/>
              </a:rPr>
              <a:t>YSYXSOC LANE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62435-FE85-4F79-9601-0DE1D047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B300C-CB0F-411A-9588-458A931C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SoC 接入单独验收：JDK 21 + mill + ysyxSoCFull + npc/soc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E72B3C-6885-4046-BD5C-EBD23994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914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rPr>
              <a:t>不要用系统 OpenJDK 8 的失败判断源码错误；先确认 mill wrapper 和 JDK 21。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304D9F-6E18-4111-A78C-4F4934F1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6000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9A2A01-7BCD-417A-B7C4-4C1D99AC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5734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# 1. Java / mill smoke</a:t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java -version</a:t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mill --version</a:t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cd ysyxSoC &amp;&amp; mill -i --version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# 2. 初始化/生成 SoC Verilog</a:t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make -C ysyxSoC dev-init     # 首次需要 submodule/patch</a:t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make -C ysyxSoC verilog      # 生成 build/ysyxSoCFull.v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# 3. npc/soc smoke</a:t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make -C npc/sim BACKEND=soc soc-lint</a:t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make -C npc/sim BACKEND=soc soc</a:t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make -C npc/soc soc-run RUN_ARGS="--max-cycles 10000"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7FFF9-FC46-48F3-B381-82C5FEF9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3905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EA307D-F6E7-4615-A277-37571E44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2DAD6-05EA-4CB8-B04A-C5438AAF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57450"/>
            <a:ext cx="3581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通过标准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A211FA-4CFD-48B6-949B-70D8A9CB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71775"/>
            <a:ext cx="3562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ysyxSoC/build/ysyxSoCFull.v 存在；soc-lint/soc 构建通过；soc-run GOOD TRAP。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C5DD49-4E83-46B2-AF2F-B2FE880D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81375"/>
            <a:ext cx="3905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07EA59-B19A-473E-A97A-D78E4C44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8137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D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90C167-FC25-4F02-8838-765F024B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05200"/>
            <a:ext cx="3581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常见失败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E22A86-22B7-44E3-987E-A8735A5D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19525"/>
            <a:ext cx="3562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JDK 版本不对、mill daemon 污染、firtool 下载失败、rocket-chip patch 未应用。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151731-8DD9-4340-AB7B-E2D232D5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29125"/>
            <a:ext cx="3905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6A6F6E-6092-48F2-B3D9-459CE415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2912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1C4157-0ACE-4576-9C1A-E120F8F3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52950"/>
            <a:ext cx="3581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记录位置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2B2005-FE5C-47B6-AEB5-1F15A4AE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67275"/>
            <a:ext cx="3562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工具链版本写 agent-system memory；SoC 地址图/ABI 结论写 ysyx-soc memory。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BD80E1-A8AF-4137-A576-7E423BD0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rPr>
              <a:t>ysyx-workbench AI 环境工程化配置手册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D65E65-A0BC-4228-BF69-8436D738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D0C3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D8D0C3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6613808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9FF2A1-923D-41EA-8AE4-6F4ECC89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D3CE24-E45C-4704-9ECF-28B6F092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168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697168"/>
                </a:solidFill>
                <a:latin typeface="Consolas"/>
                <a:ea typeface="Consolas"/>
                <a:cs typeface="Consolas"/>
              </a:rPr>
              <a:t>PPA OPTIONAL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75BEC8-83E4-410F-ACAA-C96CDD5E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A8B61-6790-4E35-AC28-A2D9A03C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PPA/STA 是下游 gate：先检查环境，不要把功能闭环卡死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C510AD-A8E7-4C1D-9C17-41BDA6E2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914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当前 known-issues 记录过 oss-cad-suite/yosys 缺失；新环境也应先跑 check-env。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D92EBD-466B-4231-B28F-4CECD4AF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60007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9D693F-80F9-448E-B376-6DEC305B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57340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# yosys-sta 自身依赖</a:t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sudo apt install -y libunwind-dev liblzma-dev</a:t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make -C yosys-sta init</a:t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echo exit | yosys-sta/bin/iEDA -v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# oss-cad-suite/yosys</a:t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source $YSYX_HOME/oss-cad-suite/env.sh</a:t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yosys -V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# 从 NPC 入口检查并运行</a:t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make -C npc/single syn-check-env</a:t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make -C npc/single sta-check-env</a:t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make -C npc/single syn</a:t>
            </a:r>
          </a:p>
          <a:p xmlns:a="http://schemas.openxmlformats.org/drawingml/2006/main">
            <a:pPr algn="l">
              <a:defRPr sz="938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make -C npc/single sta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037F4-B8A5-4404-AA0C-22B1B47C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3905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133BA5-CF01-47EA-A684-48C4AADA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44D9CA-970E-4DC6-9547-0E957778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57450"/>
            <a:ext cx="3581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为什么可选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852A96-E03A-408C-947B-9E7AC1DE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71775"/>
            <a:ext cx="3562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功能正确性以 NEMU/NPC/DiffTest 为主；综合/STA 用于 PPA 和时序，不替代 smoke。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E6EA0A-5930-4137-B16B-3749E601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81375"/>
            <a:ext cx="3905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71DBA-0F86-4525-93D4-3FEB4761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8137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D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DD66FA-FFC7-4902-9451-BEE8BCD5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05200"/>
            <a:ext cx="3581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失败处理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5E6CD9-D7E7-4DD6-8F99-C47BC801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19525"/>
            <a:ext cx="3562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把缺失工具路径写 known-issues；不要在 PPT/记录里宣称 PPA 闭环完成。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F0A6D8-C685-4223-AB2F-B27F21C7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29125"/>
            <a:ext cx="3905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D32FB1-A8AD-4D02-81B9-2F42EC21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2912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3DCBA1-0F6B-4098-8737-C8DAB161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52950"/>
            <a:ext cx="3581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报告产物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8DE8E2-27C0-4A69-B511-F4A9D9A4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67275"/>
            <a:ext cx="3562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NpcCore.rpt、cap/fanout/trans、pwr、synth_stat；结论写 yosys-sta memory。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355458-3A9F-4085-975D-5F1567E6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rPr>
              <a:t>ysyx-workbench AI 环境工程化配置手册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D6BD9A-8198-4B4C-9235-6F343660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0766F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70766F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0177267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BDF990-286D-4FEB-A774-FB5C5735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324AD4-EB66-485D-BAE2-49CAEDCA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8D0C3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D8D0C3"/>
                </a:solidFill>
                <a:latin typeface="Consolas"/>
                <a:ea typeface="Consolas"/>
                <a:cs typeface="Consolas"/>
              </a:rPr>
              <a:t>SMOKE MATRIX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0FA7AE-25C8-4482-914A-CC94A830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CFC6FD-6691-4FB2-83E1-C55B86E8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目标机器验收矩阵：每一行都要留下命令输出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8A04C-8A67-42BF-B3D1-5FB487DF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914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rPr>
              <a:t>这张表可以直接复制进 task-report，作为“新环境已配置”的证据。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80A30-5991-427D-BA6C-9E6EAD3B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C35"/>
          </a:solidFill>
          <a:ln xmlns:a="http://schemas.openxmlformats.org/drawingml/2006/main" w="9525">
            <a:solidFill>
              <a:srgbClr val="46576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43500C-D788-45C2-B08E-7696BDF8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352675"/>
            <a:ext cx="12573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E8E2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1">
                <a:solidFill>
                  <a:srgbClr val="E8E2D8"/>
                </a:solidFill>
                <a:latin typeface="Microsoft YaHei UI"/>
                <a:ea typeface="Microsoft YaHei UI"/>
                <a:cs typeface="Microsoft YaHei UI"/>
              </a:rPr>
              <a:t>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35748-AECD-48B7-95EE-210E762B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286000"/>
            <a:ext cx="533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C35"/>
          </a:solidFill>
          <a:ln xmlns:a="http://schemas.openxmlformats.org/drawingml/2006/main" w="9525">
            <a:solidFill>
              <a:srgbClr val="46576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37E0E-7730-464C-8A4C-D9D3438B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352675"/>
            <a:ext cx="51625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E8E2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1">
                <a:solidFill>
                  <a:srgbClr val="E8E2D8"/>
                </a:solidFill>
                <a:latin typeface="Microsoft YaHei UI"/>
                <a:ea typeface="Microsoft YaHei UI"/>
                <a:cs typeface="Microsoft YaHei UI"/>
              </a:rPr>
              <a:t>命令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9ED4BA-C30A-445C-AEB3-056ACB2B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860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C35"/>
          </a:solidFill>
          <a:ln xmlns:a="http://schemas.openxmlformats.org/drawingml/2006/main" w="9525">
            <a:solidFill>
              <a:srgbClr val="46576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10A426-0431-407E-B82D-6CFFB02B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352675"/>
            <a:ext cx="2305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E8E2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1">
                <a:solidFill>
                  <a:srgbClr val="E8E2D8"/>
                </a:solidFill>
                <a:latin typeface="Microsoft YaHei UI"/>
                <a:ea typeface="Microsoft YaHei UI"/>
                <a:cs typeface="Microsoft YaHei UI"/>
              </a:rPr>
              <a:t>通过标准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FF238F-B011-42F1-A1B3-2E4477D8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8600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C35"/>
          </a:solidFill>
          <a:ln xmlns:a="http://schemas.openxmlformats.org/drawingml/2006/main" w="9525">
            <a:solidFill>
              <a:srgbClr val="46576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E6E7AC-BA88-4A4D-B8AE-1594AA23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352675"/>
            <a:ext cx="16383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E8E2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1">
                <a:solidFill>
                  <a:srgbClr val="E8E2D8"/>
                </a:solidFill>
                <a:latin typeface="Microsoft YaHei UI"/>
                <a:ea typeface="Microsoft YaHei UI"/>
                <a:cs typeface="Microsoft YaHei UI"/>
              </a:rPr>
              <a:t>记录位置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C838AA-2930-4C3E-9EA3-8A9DE85C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C35"/>
          </a:solidFill>
          <a:ln xmlns:a="http://schemas.openxmlformats.org/drawingml/2006/main" w="9525">
            <a:solidFill>
              <a:srgbClr val="46576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CF4A92-DDC1-4A2F-823C-055F209A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733675"/>
            <a:ext cx="1257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15" b="1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Discovery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3F5B89-B85B-4760-AF3F-2000A169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67000"/>
            <a:ext cx="533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C35"/>
          </a:solidFill>
          <a:ln xmlns:a="http://schemas.openxmlformats.org/drawingml/2006/main" w="9525">
            <a:solidFill>
              <a:srgbClr val="46576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4F706E-D4C1-48B0-8113-340E4D51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733675"/>
            <a:ext cx="51625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rg -n "AGENTS.md|memory" AGENTS.md .github/AGENTS.md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794A94-B503-4290-8864-531A74ED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670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C35"/>
          </a:solidFill>
          <a:ln xmlns:a="http://schemas.openxmlformats.org/drawingml/2006/main" w="9525">
            <a:solidFill>
              <a:srgbClr val="46576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6981C2-73B9-4839-BFFB-66C6606E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733675"/>
            <a:ext cx="23050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8E2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E8E2D8"/>
                </a:solidFill>
                <a:latin typeface="Microsoft YaHei UI"/>
                <a:ea typeface="Microsoft YaHei UI"/>
                <a:cs typeface="Microsoft YaHei UI"/>
              </a:rPr>
              <a:t>读链完整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F0BFBC-4B34-4544-B07C-474EEE91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C35"/>
          </a:solidFill>
          <a:ln xmlns:a="http://schemas.openxmlformats.org/drawingml/2006/main" w="9525">
            <a:solidFill>
              <a:srgbClr val="46576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ED831A-0CAC-4169-9C26-E12BD2B8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733675"/>
            <a:ext cx="1638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8E2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E8E2D8"/>
                </a:solidFill>
                <a:latin typeface="Microsoft YaHei UI"/>
                <a:ea typeface="Microsoft YaHei UI"/>
                <a:cs typeface="Microsoft YaHei UI"/>
              </a:rPr>
              <a:t>agent-system memory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CBCB3B-67C2-4B03-9F5A-45C73823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813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C35"/>
          </a:solidFill>
          <a:ln xmlns:a="http://schemas.openxmlformats.org/drawingml/2006/main" w="9525">
            <a:solidFill>
              <a:srgbClr val="46576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D858D9-D50D-459F-BA8E-A6D04E3C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248025"/>
            <a:ext cx="1257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15" b="1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NEMU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C9C70E-4137-4CF5-8739-EBE691AA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81350"/>
            <a:ext cx="533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C35"/>
          </a:solidFill>
          <a:ln xmlns:a="http://schemas.openxmlformats.org/drawingml/2006/main" w="9525">
            <a:solidFill>
              <a:srgbClr val="46576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E8B17C-A688-4EC5-B4EB-3723400E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248025"/>
            <a:ext cx="51625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make -C am-kernels/tests/cpu-tests ARCH=riscv32-nemu ALL=add run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F3CDB7-3E44-494C-B5B2-FF1DBDF3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813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C35"/>
          </a:solidFill>
          <a:ln xmlns:a="http://schemas.openxmlformats.org/drawingml/2006/main" w="9525">
            <a:solidFill>
              <a:srgbClr val="46576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C70880-7BA4-44F3-A218-DDD82294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248025"/>
            <a:ext cx="23050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8E2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E8E2D8"/>
                </a:solidFill>
                <a:latin typeface="Microsoft YaHei UI"/>
                <a:ea typeface="Microsoft YaHei UI"/>
                <a:cs typeface="Microsoft YaHei UI"/>
              </a:rPr>
              <a:t>GOOD TRAP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4E283E-FC34-435C-B445-D63B5B9C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813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C35"/>
          </a:solidFill>
          <a:ln xmlns:a="http://schemas.openxmlformats.org/drawingml/2006/main" w="9525">
            <a:solidFill>
              <a:srgbClr val="46576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2AE0C4-F508-42BD-BE73-6C74E5F2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248025"/>
            <a:ext cx="1638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8E2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E8E2D8"/>
                </a:solidFill>
                <a:latin typeface="Microsoft YaHei UI"/>
                <a:ea typeface="Microsoft YaHei UI"/>
                <a:cs typeface="Microsoft YaHei UI"/>
              </a:rPr>
              <a:t>task-runs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6A0FC2-8EFB-4E28-9C0E-A080E9E1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957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C35"/>
          </a:solidFill>
          <a:ln xmlns:a="http://schemas.openxmlformats.org/drawingml/2006/main" w="9525">
            <a:solidFill>
              <a:srgbClr val="46576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EE9BBB-9E09-411B-ABAF-7112C2AA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762375"/>
            <a:ext cx="1257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15" b="1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NPC single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39396D-C948-4CBD-9A2A-3C248134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95700"/>
            <a:ext cx="533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C35"/>
          </a:solidFill>
          <a:ln xmlns:a="http://schemas.openxmlformats.org/drawingml/2006/main" w="9525">
            <a:solidFill>
              <a:srgbClr val="46576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810F4A-2024-41E1-9603-90002527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762375"/>
            <a:ext cx="51625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make -C am-kernels/tests/cpu-tests ARCH=riscv32-npc ALL=add run NPC_RUN_ARGS="--diff=default --no-progress -m 0"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D126D2-BDEF-469D-996F-799923AD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957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C35"/>
          </a:solidFill>
          <a:ln xmlns:a="http://schemas.openxmlformats.org/drawingml/2006/main" w="9525">
            <a:solidFill>
              <a:srgbClr val="46576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29573A-83A2-47DB-A5A1-4AF03746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762375"/>
            <a:ext cx="23050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8E2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E8E2D8"/>
                </a:solidFill>
                <a:latin typeface="Microsoft YaHei UI"/>
                <a:ea typeface="Microsoft YaHei UI"/>
                <a:cs typeface="Microsoft YaHei UI"/>
              </a:rPr>
              <a:t>GOOD TRAP / diff pass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80A9A0-C60A-4A3F-AA11-8D1D8898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957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C35"/>
          </a:solidFill>
          <a:ln xmlns:a="http://schemas.openxmlformats.org/drawingml/2006/main" w="9525">
            <a:solidFill>
              <a:srgbClr val="46576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C8E3C4-A58F-477B-8BF8-EBC6912B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762375"/>
            <a:ext cx="1638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8E2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E8E2D8"/>
                </a:solidFill>
                <a:latin typeface="Microsoft YaHei UI"/>
                <a:ea typeface="Microsoft YaHei UI"/>
                <a:cs typeface="Microsoft YaHei UI"/>
              </a:rPr>
              <a:t>task-runs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D9376B-6099-4A2D-8B4E-AFB8F0D2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C35"/>
          </a:solidFill>
          <a:ln xmlns:a="http://schemas.openxmlformats.org/drawingml/2006/main" w="9525">
            <a:solidFill>
              <a:srgbClr val="46576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2F919F-50EF-4E8E-BB0B-F73E1CF2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76725"/>
            <a:ext cx="1257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15" b="1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NPC sim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7006CC-6C6D-4AF5-9675-44B137AA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10050"/>
            <a:ext cx="533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C35"/>
          </a:solidFill>
          <a:ln xmlns:a="http://schemas.openxmlformats.org/drawingml/2006/main" w="9525">
            <a:solidFill>
              <a:srgbClr val="46576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1098D3-97AB-4DE5-AB28-7CDD75D8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276725"/>
            <a:ext cx="51625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make -C npc/sim status &amp;&amp; make -C npc/sim lint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A91141E-55D4-42A6-A50F-411A7061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100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C35"/>
          </a:solidFill>
          <a:ln xmlns:a="http://schemas.openxmlformats.org/drawingml/2006/main" w="9525">
            <a:solidFill>
              <a:srgbClr val="46576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2ECB28A-D869-4C70-AD1C-61EE7657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276725"/>
            <a:ext cx="23050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8E2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E8E2D8"/>
                </a:solidFill>
                <a:latin typeface="Microsoft YaHei UI"/>
                <a:ea typeface="Microsoft YaHei UI"/>
                <a:cs typeface="Microsoft YaHei UI"/>
              </a:rPr>
              <a:t>backend 明确 / lint pass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37C2713-8A64-4AD5-B559-56D1A40F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100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C35"/>
          </a:solidFill>
          <a:ln xmlns:a="http://schemas.openxmlformats.org/drawingml/2006/main" w="9525">
            <a:solidFill>
              <a:srgbClr val="46576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1BDD7EF-6E3A-4DF6-9A9A-7052CDE5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276725"/>
            <a:ext cx="1638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8E2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E8E2D8"/>
                </a:solidFill>
                <a:latin typeface="Microsoft YaHei UI"/>
                <a:ea typeface="Microsoft YaHei UI"/>
                <a:cs typeface="Microsoft YaHei UI"/>
              </a:rPr>
              <a:t>npc memory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B34755B-8062-4382-B014-5A149AC0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244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C35"/>
          </a:solidFill>
          <a:ln xmlns:a="http://schemas.openxmlformats.org/drawingml/2006/main" w="9525">
            <a:solidFill>
              <a:srgbClr val="46576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C0D1727-C6A7-4D25-8388-8973F1D3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791075"/>
            <a:ext cx="1257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15" b="1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SoC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EDFF53-9FA7-4B71-969A-7DCEE0E0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24400"/>
            <a:ext cx="533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C35"/>
          </a:solidFill>
          <a:ln xmlns:a="http://schemas.openxmlformats.org/drawingml/2006/main" w="9525">
            <a:solidFill>
              <a:srgbClr val="46576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69B68EC-BC9A-4B68-801A-8AA34411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791075"/>
            <a:ext cx="51625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make -C ysyxSoC verilog &amp;&amp; make -C npc/sim BACKEND=soc soc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6C56578-B783-48CD-9EEA-8E3E6344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244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C35"/>
          </a:solidFill>
          <a:ln xmlns:a="http://schemas.openxmlformats.org/drawingml/2006/main" w="9525">
            <a:solidFill>
              <a:srgbClr val="46576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2C5D299-C21F-4236-97A6-9CF15C87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791075"/>
            <a:ext cx="23050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8E2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E8E2D8"/>
                </a:solidFill>
                <a:latin typeface="Microsoft YaHei UI"/>
                <a:ea typeface="Microsoft YaHei UI"/>
                <a:cs typeface="Microsoft YaHei UI"/>
              </a:rPr>
              <a:t>ysyxSoCFull 构建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F95E6DD-B629-40C4-BF7B-00A1AF75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244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C35"/>
          </a:solidFill>
          <a:ln xmlns:a="http://schemas.openxmlformats.org/drawingml/2006/main" w="9525">
            <a:solidFill>
              <a:srgbClr val="46576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DCA62D9-3C01-48FC-9BEE-6D56F6AE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791075"/>
            <a:ext cx="1638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8E2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E8E2D8"/>
                </a:solidFill>
                <a:latin typeface="Microsoft YaHei UI"/>
                <a:ea typeface="Microsoft YaHei UI"/>
                <a:cs typeface="Microsoft YaHei UI"/>
              </a:rPr>
              <a:t>ysyx-soc memory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28C14FF-CA74-44DC-8458-8A5A290B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C35"/>
          </a:solidFill>
          <a:ln xmlns:a="http://schemas.openxmlformats.org/drawingml/2006/main" w="9525">
            <a:solidFill>
              <a:srgbClr val="46576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B7C2B0-BDF6-4E83-95FB-833143F2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305425"/>
            <a:ext cx="1257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15" b="1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Record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8A10202-B93F-4BCD-859C-F749283C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38750"/>
            <a:ext cx="533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C35"/>
          </a:solidFill>
          <a:ln xmlns:a="http://schemas.openxmlformats.org/drawingml/2006/main" w="9525">
            <a:solidFill>
              <a:srgbClr val="46576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8E46001-ECFE-4381-8262-F75B1DF5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5305425"/>
            <a:ext cx="51625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更新 project-status + module memory + dispatch-log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67C6A15-5A47-473B-8040-B4BF7C9C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387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C35"/>
          </a:solidFill>
          <a:ln xmlns:a="http://schemas.openxmlformats.org/drawingml/2006/main" w="9525">
            <a:solidFill>
              <a:srgbClr val="46576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FCAB1A2-36C1-4FFA-A972-368EF701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5305425"/>
            <a:ext cx="23050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8E2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E8E2D8"/>
                </a:solidFill>
                <a:latin typeface="Microsoft YaHei UI"/>
                <a:ea typeface="Microsoft YaHei UI"/>
                <a:cs typeface="Microsoft YaHei UI"/>
              </a:rPr>
              <a:t>有路径和证据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02EC27D-ABA3-4F91-8820-A0A4C7A9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2387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C35"/>
          </a:solidFill>
          <a:ln xmlns:a="http://schemas.openxmlformats.org/drawingml/2006/main" w="9525">
            <a:solidFill>
              <a:srgbClr val="46576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418C4A3-CC6A-41C4-B1EE-6C08BAF6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5305425"/>
            <a:ext cx="1638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8E2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E8E2D8"/>
                </a:solidFill>
                <a:latin typeface="Microsoft YaHei UI"/>
                <a:ea typeface="Microsoft YaHei UI"/>
                <a:cs typeface="Microsoft YaHei UI"/>
              </a:rPr>
              <a:t>memory + task-runs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C591380-8A14-49EA-9142-4FFCEEDF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8170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红线：target 不可用就写“图截断到 reference”，不能伪造 target/difftest 通过。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9002928-CEDD-4DED-8633-CD50AA84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D8D0C3"/>
                </a:solidFill>
                <a:latin typeface="Microsoft YaHei UI"/>
                <a:ea typeface="Microsoft YaHei UI"/>
                <a:cs typeface="Microsoft YaHei UI"/>
              </a:rPr>
              <a:t>ysyx-workbench AI 环境工程化配置手册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9A4A8FE-356A-4EA8-B3F5-DA219B8F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D0C3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D8D0C3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6274669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950AD3-F1F7-454B-AF8D-2C9BA7E8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1BFA9B-EF74-4370-A2DA-A4011383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168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697168"/>
                </a:solidFill>
                <a:latin typeface="Consolas"/>
                <a:ea typeface="Consolas"/>
                <a:cs typeface="Consolas"/>
              </a:rPr>
              <a:t>FAILURE TRIAGE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4B8760-3520-4C45-A497-D1C810DF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D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BF713F-A943-48AC-8F25-BB8B8C27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失败时按工程调试图处理：复现、取证、定位边界、修复、回归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64DBE-7585-4DE4-80B1-5E518250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914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不要“哪里报错补哪里”；先判断是发现层、工具链层、构建层、运行层还是记录层断了。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61560-37B6-459D-836E-891B553E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D0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D2FDF-1EDB-4C84-AF19-54BB82C2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52675"/>
            <a:ext cx="1828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症状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EAA96-6CAC-488B-8CF5-DF938844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8600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D0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87E590-97DC-4C7B-A2DA-44FFCEF6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352675"/>
            <a:ext cx="2781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先查什么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B0C960-2358-43CF-9314-8A4C8DFE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8600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D0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7FCC08-2480-44A1-A875-F77F30B0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352675"/>
            <a:ext cx="2971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常见根因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50A207-EF68-4A9F-A035-DE28CDC6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8600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D0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BD4425-7B42-498C-A7FB-787B03F6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352675"/>
            <a:ext cx="2400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下一步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E4D916-7418-4AB2-A9B5-C482983E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F1A837-AD35-44CD-9C96-FB0B9EDB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14625"/>
            <a:ext cx="1828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AI 没读规则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6CC84F-E3C3-4CD9-90F7-E652A6BE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479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7D8AAB-167E-4FAF-89BE-8A49A255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714625"/>
            <a:ext cx="27813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E7C7B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AGENTS shim / .github/AGENTS.md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04E6F1-2456-462A-AE04-5215D3E4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4795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10EAE4-1122-429F-BC56-FB6A6107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714625"/>
            <a:ext cx="2971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入口文件缺失或回链漂移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B2BFCF-692B-4F86-BEE0-61914B80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4795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0E835D-CD20-4E46-95BF-EAA13C86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714625"/>
            <a:ext cx="24003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修入口，重启新会话测试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412783-6F81-4455-AF62-B0FB04FD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E767E7-D326-4350-AE3B-FD72A3C1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48025"/>
            <a:ext cx="1828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NEMU 构建失败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914119-0A5C-44C1-8E43-B9F3FA35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813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AAAA78-C88A-42EA-82ED-D8F2CAFB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248025"/>
            <a:ext cx="27813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E7C7B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NEMU_HOME / config / 依赖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078BAC-C3C3-4A1C-99D7-56B131B0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8135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06588D-2239-42C9-A2D5-D429F2A4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248025"/>
            <a:ext cx="2971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路径错、Kconfig 未生成、SDL/ASAN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10C118-9F8D-41B6-AA93-BF485B0C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8135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AFBF4A-ECF8-4C7D-A877-46C9E26B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248025"/>
            <a:ext cx="24003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先跑 riscv32-am_defconfig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3B3D44-B471-4194-BBA0-516AA563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077270-459F-4E0A-9964-23584A3A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781425"/>
            <a:ext cx="1828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NPC 跑旧配置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30C99F-84D8-4C47-9CFE-2629E88A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7147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D04D23-F210-42CD-9405-C2C15F82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781425"/>
            <a:ext cx="27813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E7C7B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include/generated/autoconf.h / .config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BB268A-2AB3-42AF-A003-6248914A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1475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2B8025-2912-411C-87B6-C4B9C135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781425"/>
            <a:ext cx="2971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Kconfig 产物未触发重建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F097EE-88AA-437E-B56F-511B1A44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1475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5D14B1-CBF1-4AE7-B290-CFE130DF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781425"/>
            <a:ext cx="24003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make clean 或重跑 defconfig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C4D7EE-EEC7-4744-9EA8-77A85BFC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27EB1F-4C8C-4080-9D16-00554C71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314825"/>
            <a:ext cx="1828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DiffTest mismatch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66D4E2-3898-4675-85AF-CEDF140D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2481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5EA159-A8A0-4EA7-B510-783F9B1B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314825"/>
            <a:ext cx="27813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E7C7B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reference so / CONFIG_SOC_SIM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0F9EC0-97A5-4E52-ACC1-E80C627B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4815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C95299-8F78-4EAE-B4C6-37AE8556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314825"/>
            <a:ext cx="2971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普通 reference 与 SoC 地址图不匹配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CB0CDB-765B-4693-8BD1-D7C00B6C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4815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E53C1AD-3182-4192-9F7A-843D2AB4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314825"/>
            <a:ext cx="24003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重建 difftest-ref 并记录后端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84FB8CD-CB4C-418B-9C9F-0B9366A5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37BE751-FF29-46D5-A96E-33F9C4EE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848225"/>
            <a:ext cx="1828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ysyxSoC mill 失败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751D1B0-763B-48C5-8EFD-48595708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815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DF17C59-2338-45CE-B4E6-1098C545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848225"/>
            <a:ext cx="27813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E7C7B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java -version / mill -i --version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7C9CAFD-A5F3-4523-AAF3-A1DA825B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78155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CD2EF65-3C44-4047-AF08-8CED18B5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848225"/>
            <a:ext cx="2971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OpenJDK 8、daemon、firtool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D172FB5-205F-4595-9703-90880D9C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8155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AE49824-4A79-4D9D-850A-716D19CC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848225"/>
            <a:ext cx="24003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切 JDK21，清 daemon/cache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E3A2F42-CC4D-4549-9D67-CC0F7771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873C7AF-0616-49F7-8975-CF5C2475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81625"/>
            <a:ext cx="1828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STA 缺工具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8F7AC86-8C7D-4718-9487-90CC4252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149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C0868E7-1EB4-4808-A101-B21134F6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381625"/>
            <a:ext cx="27813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E7C7B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0E7C7B"/>
                </a:solidFill>
                <a:latin typeface="Consolas"/>
                <a:ea typeface="Consolas"/>
                <a:cs typeface="Consolas"/>
              </a:rPr>
              <a:t>syn-check-env / sta-check-env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196DB15-BEC3-4F7B-B5A4-F7887EF2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31495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618091F-3BDD-4B93-9E30-010D38ED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5381625"/>
            <a:ext cx="2971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oss-cad-suite 或 iEDA 缺失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2E8A037-C583-4532-8C65-68F8C385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31495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0156C22-F235-43B8-8D23-C1AA279F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381625"/>
            <a:ext cx="24003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写 known-issues，先不挡功能闭环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CDBB7FC-8C7A-4970-8C94-AAB2EF58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290418E-49CD-48C2-8048-4AB5826E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876925"/>
            <a:ext cx="883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F7F3EA"/>
                </a:solidFill>
                <a:latin typeface="Microsoft YaHei UI"/>
                <a:ea typeface="Microsoft YaHei UI"/>
                <a:cs typeface="Microsoft YaHei UI"/>
              </a:rPr>
              <a:t>每次失败至少写：命令、退出码、关键日志、怀疑边界、下一步 owner。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AA18A83-2593-43A2-9D11-C4BFE477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rPr>
              <a:t>ysyx-workbench AI 环境工程化配置手册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C86FA8A-3575-4574-836A-AB7C2631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0766F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70766F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5102893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C0768F-3365-4DF1-A722-4E1D365E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F5FA43-4555-4345-8FCB-47BF3076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97168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697168"/>
                </a:solidFill>
                <a:latin typeface="Consolas"/>
                <a:ea typeface="Consolas"/>
                <a:cs typeface="Consolas"/>
              </a:rPr>
              <a:t>FIRST DAY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414A4-B81A-4133-AC91-2E74A4CD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763EF5-00F4-43DE-9DE4-9695E947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第一天照这个顺序做：从空机器到可用 AI 硬件开发闭环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470B2-0285-4B20-918E-2E58FD5F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914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这页是给执行者的最短路径；全部通过后，再考虑全量回归和 PPA。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181A0E-5919-4873-AAB0-C6CA4C9D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7429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4D079B-BCC5-4841-873B-071AC087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2675"/>
            <a:ext cx="71628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4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1  clone ysyx-workbench，确认 .github/ 与 AGENTS shim 完整</a:t>
            </a:r>
          </a:p>
          <a:p xmlns:a="http://schemas.openxmlformats.org/drawingml/2006/main">
            <a:pPr algn="l">
              <a:defRPr sz="94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4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2  安装系统依赖，跑 make/verilator/riscv gcc/java/mill version</a:t>
            </a:r>
          </a:p>
          <a:p xmlns:a="http://schemas.openxmlformats.org/drawingml/2006/main">
            <a:pPr algn="l">
              <a:defRPr sz="94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4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3  写 ~/.bashrc：YSYX_HOME / NEMU_HOME / AM_HOME / NPC_HOME / JAVA_HOME</a:t>
            </a:r>
          </a:p>
          <a:p xmlns:a="http://schemas.openxmlformats.org/drawingml/2006/main">
            <a:pPr algn="l">
              <a:defRPr sz="94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4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4  新 AI 会话测试：要求它读取 .github/AGENTS.md 并列出读链</a:t>
            </a:r>
          </a:p>
          <a:p xmlns:a="http://schemas.openxmlformats.org/drawingml/2006/main">
            <a:pPr algn="l">
              <a:defRPr sz="94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4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5  make -C nemu riscv32-am_defconfig &amp;&amp; make -C nemu -j$(nproc)</a:t>
            </a:r>
          </a:p>
          <a:p xmlns:a="http://schemas.openxmlformats.org/drawingml/2006/main">
            <a:pPr algn="l">
              <a:defRPr sz="94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4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6  make -C am-kernels/tests/cpu-tests ARCH=riscv32-nemu ALL=add run</a:t>
            </a:r>
          </a:p>
          <a:p xmlns:a="http://schemas.openxmlformats.org/drawingml/2006/main">
            <a:pPr algn="l">
              <a:defRPr sz="94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4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7  make -C npc/sim default_defconfig &amp;&amp; make -C npc/sim status</a:t>
            </a:r>
          </a:p>
          <a:p xmlns:a="http://schemas.openxmlformats.org/drawingml/2006/main">
            <a:pPr algn="l">
              <a:defRPr sz="94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4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8  make -C npc/sim difftest-ref</a:t>
            </a:r>
          </a:p>
          <a:p xmlns:a="http://schemas.openxmlformats.org/drawingml/2006/main">
            <a:pPr algn="l">
              <a:defRPr sz="94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4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9  make -C am-kernels/tests/cpu-tests ARCH=riscv32-npc ALL=add run NPC_RUN_ARGS="--diff=default --no-progress -m 0"</a:t>
            </a:r>
          </a:p>
          <a:p xmlns:a="http://schemas.openxmlformats.org/drawingml/2006/main">
            <a:pPr algn="l">
              <a:defRPr sz="945" b="0">
                <a:solidFill>
                  <a:srgbClr val="E8E2D8"/>
                </a:solidFill>
                <a:latin typeface="Consolas"/>
                <a:ea typeface="Consolas"/>
                <a:cs typeface="Consolas"/>
              </a:defRPr>
            </a:pPr>
            <a:r>
              <a:rPr sz="945" b="0">
                <a:solidFill>
                  <a:srgbClr val="E8E2D8"/>
                </a:solidFill>
                <a:latin typeface="Consolas"/>
                <a:ea typeface="Consolas"/>
                <a:cs typeface="Consolas"/>
              </a:rPr>
              <a:t>10 写 .github/task-runs/&lt;date&gt;-env-smoke/ 并更新 memory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B6569-33AB-45F8-9512-69791D45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812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38AC8-59F4-48A4-8D27-EA119F1B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8125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7BC326-83BB-405A-B0C8-EFAFBB0F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05075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完成定义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0D34D8-2030-43A1-818B-A4AEEC31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1940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6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第 6 步 reference GOOD TRAP；第 9 步 target GOOD TRAP；第 10 步有证据记录。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1FD542-0C5E-4450-8B1B-7853B4BB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476625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593CA5-434B-40E2-8F03-8BE85DD2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476625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F4EB9D-E1BD-4D89-869B-00CC2E15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00450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第二阶段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88B1AA-F17F-4D77-A138-F8123E1B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914775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6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再补 ysyxSoC verilog、npc/soc smoke、soc difftest、yosys-sta。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3737C5-A23E-4294-905A-67B8DA45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57200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22B054-BE1F-44AE-8B80-0A82E203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57200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D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9918BF-001A-4EF3-AC0A-C5B9B020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695825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3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不要做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6BDE88-7CDB-4685-A55E-09CC3BC2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0101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65" b="0">
                <a:solidFill>
                  <a:srgbClr val="5C665F"/>
                </a:solidFill>
                <a:latin typeface="Microsoft YaHei UI"/>
                <a:ea typeface="Microsoft YaHei UI"/>
                <a:cs typeface="Microsoft YaHei UI"/>
              </a:rPr>
              <a:t>不要先改 RTL；不要跳过 known-issues；不要把失败命令口头带过。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B99551-8E8E-42AD-A944-3D5D0746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53125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复制这套环境的本质：把 AI 的“会做事”约束到工程证据链里。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C08426-61B6-4D26-B62B-96B7CDF7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70766F"/>
                </a:solidFill>
                <a:latin typeface="Microsoft YaHei UI"/>
                <a:ea typeface="Microsoft YaHei UI"/>
                <a:cs typeface="Microsoft YaHei UI"/>
              </a:rPr>
              <a:t>ysyx-workbench AI 环境工程化配置手册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4E6131-C101-4995-8E30-F328B796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0766F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70766F"/>
                </a:solidFill>
                <a:latin typeface="Consolas"/>
                <a:ea typeface="Consolas"/>
                <a:cs typeface="Consola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624979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2026-05-28T06:12:25.1530000Z</dcterms:created>
  <dcterms:modified xsi:type="dcterms:W3CDTF">2026-05-28T06:12:25.1530000Z</dcterms:modified>
</coreProperties>
</file>